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60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4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7514B0-8185-4BA2-82E1-43880BC1421C}" v="335" dt="2026-04-06T17:53:43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370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132943-1B1F-4A05-89A6-0E9EEBFDB53C}" type="doc">
      <dgm:prSet loTypeId="urn:microsoft.com/office/officeart/2005/8/layout/hList1" loCatId="list" qsTypeId="urn:microsoft.com/office/officeart/2005/8/quickstyle/3d3" qsCatId="3D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524E4368-7F9A-4F9F-88B1-D8FF9A0A0FAB}">
      <dgm:prSet phldrT="[Text]" phldr="0"/>
      <dgm:spPr/>
      <dgm:t>
        <a:bodyPr/>
        <a:lstStyle/>
        <a:p>
          <a:r>
            <a:rPr lang="en-US" dirty="0"/>
            <a:t>Commitment</a:t>
          </a:r>
          <a:endParaRPr lang="en-IN" dirty="0"/>
        </a:p>
      </dgm:t>
    </dgm:pt>
    <dgm:pt modelId="{87C4C08C-6826-4525-AD43-8EB9DEDDA395}" type="parTrans" cxnId="{D5F66C75-FED9-4390-91E9-4F9F9116F12B}">
      <dgm:prSet/>
      <dgm:spPr/>
      <dgm:t>
        <a:bodyPr/>
        <a:lstStyle/>
        <a:p>
          <a:endParaRPr lang="en-IN"/>
        </a:p>
      </dgm:t>
    </dgm:pt>
    <dgm:pt modelId="{4C74FC92-5845-4C31-85E9-8BD4EAFDB589}" type="sibTrans" cxnId="{D5F66C75-FED9-4390-91E9-4F9F9116F12B}">
      <dgm:prSet/>
      <dgm:spPr/>
      <dgm:t>
        <a:bodyPr/>
        <a:lstStyle/>
        <a:p>
          <a:endParaRPr lang="en-IN"/>
        </a:p>
      </dgm:t>
    </dgm:pt>
    <dgm:pt modelId="{68818E5C-EF3C-4140-8971-4C1F09404C03}">
      <dgm:prSet phldrT="[Text]" phldr="0"/>
      <dgm:spPr/>
      <dgm:t>
        <a:bodyPr/>
        <a:lstStyle/>
        <a:p>
          <a:r>
            <a:rPr lang="en-US" dirty="0"/>
            <a:t> Convert the existing 3-stage pipeline into a 5-stage pipeline with support for RV32M</a:t>
          </a:r>
          <a:endParaRPr lang="en-IN" dirty="0"/>
        </a:p>
      </dgm:t>
    </dgm:pt>
    <dgm:pt modelId="{00DF7B19-F4F1-46B7-9807-6825FA15438F}" type="parTrans" cxnId="{D1276487-D2B7-4E0C-AE82-A25370A62999}">
      <dgm:prSet/>
      <dgm:spPr/>
      <dgm:t>
        <a:bodyPr/>
        <a:lstStyle/>
        <a:p>
          <a:endParaRPr lang="en-IN"/>
        </a:p>
      </dgm:t>
    </dgm:pt>
    <dgm:pt modelId="{AA531620-79B1-4EE0-9ADB-601A3BC47CE6}" type="sibTrans" cxnId="{D1276487-D2B7-4E0C-AE82-A25370A62999}">
      <dgm:prSet/>
      <dgm:spPr/>
      <dgm:t>
        <a:bodyPr/>
        <a:lstStyle/>
        <a:p>
          <a:endParaRPr lang="en-IN"/>
        </a:p>
      </dgm:t>
    </dgm:pt>
    <dgm:pt modelId="{FBDE6E0F-54B8-47DB-B9E1-D25887352C3C}">
      <dgm:prSet phldrT="[Text]" phldr="0"/>
      <dgm:spPr/>
      <dgm:t>
        <a:bodyPr/>
        <a:lstStyle/>
        <a:p>
          <a:r>
            <a:rPr lang="en-US" dirty="0"/>
            <a:t>A multi-core processor supporting RV32A ISA (atomic operations) enabling functioning of multi-threaded algorithms.</a:t>
          </a:r>
          <a:endParaRPr lang="en-IN" dirty="0"/>
        </a:p>
      </dgm:t>
    </dgm:pt>
    <dgm:pt modelId="{9B9F94E9-1701-4628-9642-2D49B9887EAC}" type="parTrans" cxnId="{2508CC78-FB95-4119-BBF6-BF1966ED8764}">
      <dgm:prSet/>
      <dgm:spPr/>
      <dgm:t>
        <a:bodyPr/>
        <a:lstStyle/>
        <a:p>
          <a:endParaRPr lang="en-IN"/>
        </a:p>
      </dgm:t>
    </dgm:pt>
    <dgm:pt modelId="{19099223-A514-4872-A9EA-5360CD840C85}" type="sibTrans" cxnId="{2508CC78-FB95-4119-BBF6-BF1966ED8764}">
      <dgm:prSet/>
      <dgm:spPr/>
      <dgm:t>
        <a:bodyPr/>
        <a:lstStyle/>
        <a:p>
          <a:endParaRPr lang="en-IN"/>
        </a:p>
      </dgm:t>
    </dgm:pt>
    <dgm:pt modelId="{99AC9F5E-87D8-4732-A51B-EC41E34814BA}">
      <dgm:prSet phldrT="[Text]" phldr="0"/>
      <dgm:spPr/>
      <dgm:t>
        <a:bodyPr/>
        <a:lstStyle/>
        <a:p>
          <a:r>
            <a:rPr lang="en-US" dirty="0"/>
            <a:t>Goal System</a:t>
          </a:r>
          <a:endParaRPr lang="en-IN" dirty="0"/>
        </a:p>
      </dgm:t>
    </dgm:pt>
    <dgm:pt modelId="{DAC40933-D9BA-4E50-9854-9D553E640639}" type="parTrans" cxnId="{B5145F5E-E3A3-4BD3-BD79-585402FEBC9D}">
      <dgm:prSet/>
      <dgm:spPr/>
      <dgm:t>
        <a:bodyPr/>
        <a:lstStyle/>
        <a:p>
          <a:endParaRPr lang="en-IN"/>
        </a:p>
      </dgm:t>
    </dgm:pt>
    <dgm:pt modelId="{4230EF1C-C885-417A-827E-5516AA786211}" type="sibTrans" cxnId="{B5145F5E-E3A3-4BD3-BD79-585402FEBC9D}">
      <dgm:prSet/>
      <dgm:spPr/>
      <dgm:t>
        <a:bodyPr/>
        <a:lstStyle/>
        <a:p>
          <a:endParaRPr lang="en-IN"/>
        </a:p>
      </dgm:t>
    </dgm:pt>
    <dgm:pt modelId="{D9B91B15-A186-443C-8BDA-0E2D3D35984E}">
      <dgm:prSet phldrT="[Text]" phldr="0"/>
      <dgm:spPr/>
      <dgm:t>
        <a:bodyPr/>
        <a:lstStyle/>
        <a:p>
          <a:r>
            <a:rPr lang="en-US" dirty="0"/>
            <a:t> Dynamic Branch Prediction: Integrate per-core branch target minimizing stalls during branching operations.</a:t>
          </a:r>
          <a:endParaRPr lang="en-IN" dirty="0"/>
        </a:p>
      </dgm:t>
    </dgm:pt>
    <dgm:pt modelId="{287F5E85-BC8A-4C76-ADB2-FAC23359BC2E}" type="parTrans" cxnId="{48A740BE-2B9B-493D-AAC7-27A51CA16FEB}">
      <dgm:prSet/>
      <dgm:spPr/>
      <dgm:t>
        <a:bodyPr/>
        <a:lstStyle/>
        <a:p>
          <a:endParaRPr lang="en-IN"/>
        </a:p>
      </dgm:t>
    </dgm:pt>
    <dgm:pt modelId="{F7FFC95B-99BD-44BF-AD62-68449F848812}" type="sibTrans" cxnId="{48A740BE-2B9B-493D-AAC7-27A51CA16FEB}">
      <dgm:prSet/>
      <dgm:spPr/>
      <dgm:t>
        <a:bodyPr/>
        <a:lstStyle/>
        <a:p>
          <a:endParaRPr lang="en-IN"/>
        </a:p>
      </dgm:t>
    </dgm:pt>
    <dgm:pt modelId="{4F6F6912-6BB3-400D-91D0-5A0132D1094A}">
      <dgm:prSet phldrT="[Text]" phldr="0"/>
      <dgm:spPr/>
      <dgm:t>
        <a:bodyPr/>
        <a:lstStyle/>
        <a:p>
          <a:r>
            <a:rPr lang="en-US" dirty="0"/>
            <a:t> Integrated L1 Cache Hierarchy: Incorporate dedicated L1 instruction and data caches for each core</a:t>
          </a:r>
          <a:endParaRPr lang="en-IN" dirty="0"/>
        </a:p>
      </dgm:t>
    </dgm:pt>
    <dgm:pt modelId="{3511A606-ADDC-43DC-AF99-BC32F68704DA}" type="parTrans" cxnId="{107C959C-DB20-486C-BF71-6C2684F08FE9}">
      <dgm:prSet/>
      <dgm:spPr/>
      <dgm:t>
        <a:bodyPr/>
        <a:lstStyle/>
        <a:p>
          <a:endParaRPr lang="en-IN"/>
        </a:p>
      </dgm:t>
    </dgm:pt>
    <dgm:pt modelId="{7B60846E-5046-40A1-82EC-AD31A013B9B7}" type="sibTrans" cxnId="{107C959C-DB20-486C-BF71-6C2684F08FE9}">
      <dgm:prSet/>
      <dgm:spPr/>
      <dgm:t>
        <a:bodyPr/>
        <a:lstStyle/>
        <a:p>
          <a:endParaRPr lang="en-IN"/>
        </a:p>
      </dgm:t>
    </dgm:pt>
    <dgm:pt modelId="{44072F35-A5DD-49D7-871E-2BBC1B16D8E6}">
      <dgm:prSet phldrT="[Text]" phldr="0"/>
      <dgm:spPr/>
      <dgm:t>
        <a:bodyPr/>
        <a:lstStyle/>
        <a:p>
          <a:r>
            <a:rPr lang="en-US" dirty="0"/>
            <a:t>Stretch Goals</a:t>
          </a:r>
          <a:endParaRPr lang="en-IN" dirty="0"/>
        </a:p>
      </dgm:t>
    </dgm:pt>
    <dgm:pt modelId="{CDC1B137-868A-47E8-9D07-6BB43BBA6C27}" type="parTrans" cxnId="{672BA43C-2F4F-4D57-8E2B-EF89F527A29B}">
      <dgm:prSet/>
      <dgm:spPr/>
      <dgm:t>
        <a:bodyPr/>
        <a:lstStyle/>
        <a:p>
          <a:endParaRPr lang="en-IN"/>
        </a:p>
      </dgm:t>
    </dgm:pt>
    <dgm:pt modelId="{B330A8A2-568F-4382-B186-4F8C7BE5F089}" type="sibTrans" cxnId="{672BA43C-2F4F-4D57-8E2B-EF89F527A29B}">
      <dgm:prSet/>
      <dgm:spPr/>
      <dgm:t>
        <a:bodyPr/>
        <a:lstStyle/>
        <a:p>
          <a:endParaRPr lang="en-IN"/>
        </a:p>
      </dgm:t>
    </dgm:pt>
    <dgm:pt modelId="{23786688-998D-4FA5-8479-0D6BE9958CDD}">
      <dgm:prSet phldrT="[Text]" phldr="0"/>
      <dgm:spPr/>
      <dgm:t>
        <a:bodyPr/>
        <a:lstStyle/>
        <a:p>
          <a:r>
            <a:rPr lang="en-US" dirty="0"/>
            <a:t> </a:t>
          </a:r>
          <a:r>
            <a:rPr lang="en-IN" dirty="0"/>
            <a:t>Hardware Performance Monitoring: Implement the </a:t>
          </a:r>
          <a:r>
            <a:rPr lang="en-IN" dirty="0" err="1"/>
            <a:t>Zicsr</a:t>
          </a:r>
          <a:r>
            <a:rPr lang="en-IN" dirty="0"/>
            <a:t> extension, accessing the Control and Status Registers, to monitor critical hardware-level profiling metrics</a:t>
          </a:r>
        </a:p>
      </dgm:t>
    </dgm:pt>
    <dgm:pt modelId="{0B269600-3C66-48C8-903D-0EDFAF73BFB7}" type="parTrans" cxnId="{D8C89B68-1B07-4FE1-911F-E9A31390FE53}">
      <dgm:prSet/>
      <dgm:spPr/>
      <dgm:t>
        <a:bodyPr/>
        <a:lstStyle/>
        <a:p>
          <a:endParaRPr lang="en-IN"/>
        </a:p>
      </dgm:t>
    </dgm:pt>
    <dgm:pt modelId="{F9DC48BF-1FDC-4648-85E2-16469136080E}" type="sibTrans" cxnId="{D8C89B68-1B07-4FE1-911F-E9A31390FE53}">
      <dgm:prSet/>
      <dgm:spPr/>
      <dgm:t>
        <a:bodyPr/>
        <a:lstStyle/>
        <a:p>
          <a:endParaRPr lang="en-IN"/>
        </a:p>
      </dgm:t>
    </dgm:pt>
    <dgm:pt modelId="{19641819-E63C-4024-A48A-194E2A407E8B}" type="pres">
      <dgm:prSet presAssocID="{00132943-1B1F-4A05-89A6-0E9EEBFDB53C}" presName="Name0" presStyleCnt="0">
        <dgm:presLayoutVars>
          <dgm:dir/>
          <dgm:animLvl val="lvl"/>
          <dgm:resizeHandles val="exact"/>
        </dgm:presLayoutVars>
      </dgm:prSet>
      <dgm:spPr/>
    </dgm:pt>
    <dgm:pt modelId="{48043DDE-A815-48C0-9D86-E5274C3A6F27}" type="pres">
      <dgm:prSet presAssocID="{524E4368-7F9A-4F9F-88B1-D8FF9A0A0FAB}" presName="composite" presStyleCnt="0"/>
      <dgm:spPr/>
    </dgm:pt>
    <dgm:pt modelId="{8D3C7A74-9FF8-401F-846E-FCF3D740C9A3}" type="pres">
      <dgm:prSet presAssocID="{524E4368-7F9A-4F9F-88B1-D8FF9A0A0FAB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FFB07D1-2469-4FB3-BFCE-935FE53EC065}" type="pres">
      <dgm:prSet presAssocID="{524E4368-7F9A-4F9F-88B1-D8FF9A0A0FAB}" presName="desTx" presStyleLbl="alignAccFollowNode1" presStyleIdx="0" presStyleCnt="3">
        <dgm:presLayoutVars>
          <dgm:bulletEnabled val="1"/>
        </dgm:presLayoutVars>
      </dgm:prSet>
      <dgm:spPr/>
    </dgm:pt>
    <dgm:pt modelId="{EEFEADFD-4DF9-46F1-94F1-BE989B9E53AC}" type="pres">
      <dgm:prSet presAssocID="{4C74FC92-5845-4C31-85E9-8BD4EAFDB589}" presName="space" presStyleCnt="0"/>
      <dgm:spPr/>
    </dgm:pt>
    <dgm:pt modelId="{9634C04D-E903-4F95-BAEE-F95EE04BEB1E}" type="pres">
      <dgm:prSet presAssocID="{99AC9F5E-87D8-4732-A51B-EC41E34814BA}" presName="composite" presStyleCnt="0"/>
      <dgm:spPr/>
    </dgm:pt>
    <dgm:pt modelId="{5D31593E-53E3-4D80-B7D9-963E768278E9}" type="pres">
      <dgm:prSet presAssocID="{99AC9F5E-87D8-4732-A51B-EC41E34814B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E8D68261-7DDD-470D-9C14-B00834271AC9}" type="pres">
      <dgm:prSet presAssocID="{99AC9F5E-87D8-4732-A51B-EC41E34814BA}" presName="desTx" presStyleLbl="alignAccFollowNode1" presStyleIdx="1" presStyleCnt="3">
        <dgm:presLayoutVars>
          <dgm:bulletEnabled val="1"/>
        </dgm:presLayoutVars>
      </dgm:prSet>
      <dgm:spPr/>
    </dgm:pt>
    <dgm:pt modelId="{817C3F19-642A-4961-84A1-5A27B14B5690}" type="pres">
      <dgm:prSet presAssocID="{4230EF1C-C885-417A-827E-5516AA786211}" presName="space" presStyleCnt="0"/>
      <dgm:spPr/>
    </dgm:pt>
    <dgm:pt modelId="{3CAAC375-AC7A-4D0A-A9C4-D03BAF630F6E}" type="pres">
      <dgm:prSet presAssocID="{44072F35-A5DD-49D7-871E-2BBC1B16D8E6}" presName="composite" presStyleCnt="0"/>
      <dgm:spPr/>
    </dgm:pt>
    <dgm:pt modelId="{C96E8422-1FCF-4BE4-8B15-A1BF990397AF}" type="pres">
      <dgm:prSet presAssocID="{44072F35-A5DD-49D7-871E-2BBC1B16D8E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A6AB3765-06B4-474E-92F2-56DE11DF0ABF}" type="pres">
      <dgm:prSet presAssocID="{44072F35-A5DD-49D7-871E-2BBC1B16D8E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F3C4100A-BE8F-4C30-A641-BCC5D7E0589D}" type="presOf" srcId="{524E4368-7F9A-4F9F-88B1-D8FF9A0A0FAB}" destId="{8D3C7A74-9FF8-401F-846E-FCF3D740C9A3}" srcOrd="0" destOrd="0" presId="urn:microsoft.com/office/officeart/2005/8/layout/hList1"/>
    <dgm:cxn modelId="{672BA43C-2F4F-4D57-8E2B-EF89F527A29B}" srcId="{00132943-1B1F-4A05-89A6-0E9EEBFDB53C}" destId="{44072F35-A5DD-49D7-871E-2BBC1B16D8E6}" srcOrd="2" destOrd="0" parTransId="{CDC1B137-868A-47E8-9D07-6BB43BBA6C27}" sibTransId="{B330A8A2-568F-4382-B186-4F8C7BE5F089}"/>
    <dgm:cxn modelId="{B5145F5E-E3A3-4BD3-BD79-585402FEBC9D}" srcId="{00132943-1B1F-4A05-89A6-0E9EEBFDB53C}" destId="{99AC9F5E-87D8-4732-A51B-EC41E34814BA}" srcOrd="1" destOrd="0" parTransId="{DAC40933-D9BA-4E50-9854-9D553E640639}" sibTransId="{4230EF1C-C885-417A-827E-5516AA786211}"/>
    <dgm:cxn modelId="{EB7F7165-04EB-4299-AB9F-062DFE2F6423}" type="presOf" srcId="{4F6F6912-6BB3-400D-91D0-5A0132D1094A}" destId="{E8D68261-7DDD-470D-9C14-B00834271AC9}" srcOrd="0" destOrd="1" presId="urn:microsoft.com/office/officeart/2005/8/layout/hList1"/>
    <dgm:cxn modelId="{D8C89B68-1B07-4FE1-911F-E9A31390FE53}" srcId="{44072F35-A5DD-49D7-871E-2BBC1B16D8E6}" destId="{23786688-998D-4FA5-8479-0D6BE9958CDD}" srcOrd="0" destOrd="0" parTransId="{0B269600-3C66-48C8-903D-0EDFAF73BFB7}" sibTransId="{F9DC48BF-1FDC-4648-85E2-16469136080E}"/>
    <dgm:cxn modelId="{B56B0C50-45D7-4847-A24E-602AF8D02734}" type="presOf" srcId="{68818E5C-EF3C-4140-8971-4C1F09404C03}" destId="{1FFB07D1-2469-4FB3-BFCE-935FE53EC065}" srcOrd="0" destOrd="0" presId="urn:microsoft.com/office/officeart/2005/8/layout/hList1"/>
    <dgm:cxn modelId="{7B2B4553-A390-43F8-95B1-2C61DD170701}" type="presOf" srcId="{99AC9F5E-87D8-4732-A51B-EC41E34814BA}" destId="{5D31593E-53E3-4D80-B7D9-963E768278E9}" srcOrd="0" destOrd="0" presId="urn:microsoft.com/office/officeart/2005/8/layout/hList1"/>
    <dgm:cxn modelId="{D5F66C75-FED9-4390-91E9-4F9F9116F12B}" srcId="{00132943-1B1F-4A05-89A6-0E9EEBFDB53C}" destId="{524E4368-7F9A-4F9F-88B1-D8FF9A0A0FAB}" srcOrd="0" destOrd="0" parTransId="{87C4C08C-6826-4525-AD43-8EB9DEDDA395}" sibTransId="{4C74FC92-5845-4C31-85E9-8BD4EAFDB589}"/>
    <dgm:cxn modelId="{2508CC78-FB95-4119-BBF6-BF1966ED8764}" srcId="{524E4368-7F9A-4F9F-88B1-D8FF9A0A0FAB}" destId="{FBDE6E0F-54B8-47DB-B9E1-D25887352C3C}" srcOrd="1" destOrd="0" parTransId="{9B9F94E9-1701-4628-9642-2D49B9887EAC}" sibTransId="{19099223-A514-4872-A9EA-5360CD840C85}"/>
    <dgm:cxn modelId="{D1276487-D2B7-4E0C-AE82-A25370A62999}" srcId="{524E4368-7F9A-4F9F-88B1-D8FF9A0A0FAB}" destId="{68818E5C-EF3C-4140-8971-4C1F09404C03}" srcOrd="0" destOrd="0" parTransId="{00DF7B19-F4F1-46B7-9807-6825FA15438F}" sibTransId="{AA531620-79B1-4EE0-9ADB-601A3BC47CE6}"/>
    <dgm:cxn modelId="{107C959C-DB20-486C-BF71-6C2684F08FE9}" srcId="{99AC9F5E-87D8-4732-A51B-EC41E34814BA}" destId="{4F6F6912-6BB3-400D-91D0-5A0132D1094A}" srcOrd="1" destOrd="0" parTransId="{3511A606-ADDC-43DC-AF99-BC32F68704DA}" sibTransId="{7B60846E-5046-40A1-82EC-AD31A013B9B7}"/>
    <dgm:cxn modelId="{CA9E34BB-2F04-457B-B0FD-87FB17E64EF2}" type="presOf" srcId="{FBDE6E0F-54B8-47DB-B9E1-D25887352C3C}" destId="{1FFB07D1-2469-4FB3-BFCE-935FE53EC065}" srcOrd="0" destOrd="1" presId="urn:microsoft.com/office/officeart/2005/8/layout/hList1"/>
    <dgm:cxn modelId="{48A740BE-2B9B-493D-AAC7-27A51CA16FEB}" srcId="{99AC9F5E-87D8-4732-A51B-EC41E34814BA}" destId="{D9B91B15-A186-443C-8BDA-0E2D3D35984E}" srcOrd="0" destOrd="0" parTransId="{287F5E85-BC8A-4C76-ADB2-FAC23359BC2E}" sibTransId="{F7FFC95B-99BD-44BF-AD62-68449F848812}"/>
    <dgm:cxn modelId="{6E2C64C9-909C-4118-BE4A-93C9EEC3333B}" type="presOf" srcId="{44072F35-A5DD-49D7-871E-2BBC1B16D8E6}" destId="{C96E8422-1FCF-4BE4-8B15-A1BF990397AF}" srcOrd="0" destOrd="0" presId="urn:microsoft.com/office/officeart/2005/8/layout/hList1"/>
    <dgm:cxn modelId="{6AB899D3-3EC4-42D0-BC8E-548F4CBDDC53}" type="presOf" srcId="{23786688-998D-4FA5-8479-0D6BE9958CDD}" destId="{A6AB3765-06B4-474E-92F2-56DE11DF0ABF}" srcOrd="0" destOrd="0" presId="urn:microsoft.com/office/officeart/2005/8/layout/hList1"/>
    <dgm:cxn modelId="{3DBF78D6-1E37-4A3E-BDA1-48A9A6B7FA54}" type="presOf" srcId="{D9B91B15-A186-443C-8BDA-0E2D3D35984E}" destId="{E8D68261-7DDD-470D-9C14-B00834271AC9}" srcOrd="0" destOrd="0" presId="urn:microsoft.com/office/officeart/2005/8/layout/hList1"/>
    <dgm:cxn modelId="{61C5E4F0-E927-4485-AADF-766BA3A4E165}" type="presOf" srcId="{00132943-1B1F-4A05-89A6-0E9EEBFDB53C}" destId="{19641819-E63C-4024-A48A-194E2A407E8B}" srcOrd="0" destOrd="0" presId="urn:microsoft.com/office/officeart/2005/8/layout/hList1"/>
    <dgm:cxn modelId="{08682C97-EC22-40CD-8136-D9EB176F6DCA}" type="presParOf" srcId="{19641819-E63C-4024-A48A-194E2A407E8B}" destId="{48043DDE-A815-48C0-9D86-E5274C3A6F27}" srcOrd="0" destOrd="0" presId="urn:microsoft.com/office/officeart/2005/8/layout/hList1"/>
    <dgm:cxn modelId="{25907864-3E45-4CC6-8DCE-2B0755E934AD}" type="presParOf" srcId="{48043DDE-A815-48C0-9D86-E5274C3A6F27}" destId="{8D3C7A74-9FF8-401F-846E-FCF3D740C9A3}" srcOrd="0" destOrd="0" presId="urn:microsoft.com/office/officeart/2005/8/layout/hList1"/>
    <dgm:cxn modelId="{3B39A8D9-06D5-4F9B-B88B-AF04DF6E47D0}" type="presParOf" srcId="{48043DDE-A815-48C0-9D86-E5274C3A6F27}" destId="{1FFB07D1-2469-4FB3-BFCE-935FE53EC065}" srcOrd="1" destOrd="0" presId="urn:microsoft.com/office/officeart/2005/8/layout/hList1"/>
    <dgm:cxn modelId="{D778B36D-BA3D-47E1-A45C-A81652E0B7BC}" type="presParOf" srcId="{19641819-E63C-4024-A48A-194E2A407E8B}" destId="{EEFEADFD-4DF9-46F1-94F1-BE989B9E53AC}" srcOrd="1" destOrd="0" presId="urn:microsoft.com/office/officeart/2005/8/layout/hList1"/>
    <dgm:cxn modelId="{A9AF5F35-DDB0-4408-B944-537ADE88C3CE}" type="presParOf" srcId="{19641819-E63C-4024-A48A-194E2A407E8B}" destId="{9634C04D-E903-4F95-BAEE-F95EE04BEB1E}" srcOrd="2" destOrd="0" presId="urn:microsoft.com/office/officeart/2005/8/layout/hList1"/>
    <dgm:cxn modelId="{D21AA618-A089-47A0-A0FF-28B6293830DA}" type="presParOf" srcId="{9634C04D-E903-4F95-BAEE-F95EE04BEB1E}" destId="{5D31593E-53E3-4D80-B7D9-963E768278E9}" srcOrd="0" destOrd="0" presId="urn:microsoft.com/office/officeart/2005/8/layout/hList1"/>
    <dgm:cxn modelId="{2AA21FFC-E723-48AE-804D-E44FCD6A6DE2}" type="presParOf" srcId="{9634C04D-E903-4F95-BAEE-F95EE04BEB1E}" destId="{E8D68261-7DDD-470D-9C14-B00834271AC9}" srcOrd="1" destOrd="0" presId="urn:microsoft.com/office/officeart/2005/8/layout/hList1"/>
    <dgm:cxn modelId="{7B30E61F-EFA2-41B2-B722-B7366D50A958}" type="presParOf" srcId="{19641819-E63C-4024-A48A-194E2A407E8B}" destId="{817C3F19-642A-4961-84A1-5A27B14B5690}" srcOrd="3" destOrd="0" presId="urn:microsoft.com/office/officeart/2005/8/layout/hList1"/>
    <dgm:cxn modelId="{C0D71CE4-DAE2-4006-86B7-1C999A55D73E}" type="presParOf" srcId="{19641819-E63C-4024-A48A-194E2A407E8B}" destId="{3CAAC375-AC7A-4D0A-A9C4-D03BAF630F6E}" srcOrd="4" destOrd="0" presId="urn:microsoft.com/office/officeart/2005/8/layout/hList1"/>
    <dgm:cxn modelId="{D5BD7E79-B5F7-498F-8DCD-67A663E7E7A0}" type="presParOf" srcId="{3CAAC375-AC7A-4D0A-A9C4-D03BAF630F6E}" destId="{C96E8422-1FCF-4BE4-8B15-A1BF990397AF}" srcOrd="0" destOrd="0" presId="urn:microsoft.com/office/officeart/2005/8/layout/hList1"/>
    <dgm:cxn modelId="{268A1220-78FC-41D3-B658-2A421F88B672}" type="presParOf" srcId="{3CAAC375-AC7A-4D0A-A9C4-D03BAF630F6E}" destId="{A6AB3765-06B4-474E-92F2-56DE11DF0AB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06AD8CC-3862-4FF5-A514-AD7578D0824D}" type="doc">
      <dgm:prSet loTypeId="urn:microsoft.com/office/officeart/2005/8/layout/process5" loCatId="process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B39A13A-1E65-4918-9274-4044ECA502C7}">
      <dgm:prSet phldrT="[Text]" phldr="0"/>
      <dgm:spPr/>
      <dgm:t>
        <a:bodyPr/>
        <a:lstStyle/>
        <a:p>
          <a:r>
            <a:rPr lang="en-US" dirty="0"/>
            <a:t>Convert existing code to a 5-stage pipeline with RV32M. Test on simple assembly codes via a testbench.</a:t>
          </a:r>
          <a:endParaRPr lang="en-IN" dirty="0"/>
        </a:p>
      </dgm:t>
    </dgm:pt>
    <dgm:pt modelId="{28C82907-10AB-42C9-93DA-57F29CC569F0}" type="parTrans" cxnId="{FA91BB67-3EBA-49FA-916D-9DDC98923988}">
      <dgm:prSet/>
      <dgm:spPr/>
      <dgm:t>
        <a:bodyPr/>
        <a:lstStyle/>
        <a:p>
          <a:endParaRPr lang="en-IN"/>
        </a:p>
      </dgm:t>
    </dgm:pt>
    <dgm:pt modelId="{A391DC1D-F5C8-48F1-9CEA-4E71D51D358C}" type="sibTrans" cxnId="{FA91BB67-3EBA-49FA-916D-9DDC98923988}">
      <dgm:prSet/>
      <dgm:spPr/>
      <dgm:t>
        <a:bodyPr/>
        <a:lstStyle/>
        <a:p>
          <a:endParaRPr lang="en-IN"/>
        </a:p>
      </dgm:t>
    </dgm:pt>
    <dgm:pt modelId="{BAE5E4E2-8F67-4791-B915-8A70B179CD74}">
      <dgm:prSet phldrT="[Text]" phldr="0"/>
      <dgm:spPr/>
      <dgm:t>
        <a:bodyPr/>
        <a:lstStyle/>
        <a:p>
          <a:r>
            <a:rPr lang="en-US" dirty="0"/>
            <a:t>Incorporate Branch Prediction(BTB) and L1 data and instruction caches. Test functioning via a testbench as well as run bitstream on FPGA.</a:t>
          </a:r>
          <a:endParaRPr lang="en-IN" dirty="0"/>
        </a:p>
      </dgm:t>
    </dgm:pt>
    <dgm:pt modelId="{CAC6A8A2-49C4-47EA-8C9E-1F688EE77704}" type="parTrans" cxnId="{8701E7D6-FE82-4320-A745-7CB4AB7F4013}">
      <dgm:prSet/>
      <dgm:spPr/>
      <dgm:t>
        <a:bodyPr/>
        <a:lstStyle/>
        <a:p>
          <a:endParaRPr lang="en-IN"/>
        </a:p>
      </dgm:t>
    </dgm:pt>
    <dgm:pt modelId="{A9DFF94E-3E20-4DFD-821D-F47BAE770505}" type="sibTrans" cxnId="{8701E7D6-FE82-4320-A745-7CB4AB7F4013}">
      <dgm:prSet/>
      <dgm:spPr/>
      <dgm:t>
        <a:bodyPr/>
        <a:lstStyle/>
        <a:p>
          <a:endParaRPr lang="en-IN"/>
        </a:p>
      </dgm:t>
    </dgm:pt>
    <dgm:pt modelId="{8D68DD17-9BDA-423A-888D-30930B244791}">
      <dgm:prSet phldrT="[Text]" phldr="0"/>
      <dgm:spPr/>
      <dgm:t>
        <a:bodyPr/>
        <a:lstStyle/>
        <a:p>
          <a:r>
            <a:rPr lang="en-US" dirty="0"/>
            <a:t>Incorporate atomic operations (RV32A) within the pipeline ensuring proper data locking. Test functioning via testbench</a:t>
          </a:r>
          <a:endParaRPr lang="en-IN" dirty="0"/>
        </a:p>
      </dgm:t>
    </dgm:pt>
    <dgm:pt modelId="{D6DE8A3B-7AD6-41C9-B86E-4C82BE5FCB0F}" type="parTrans" cxnId="{D5C1A4EB-7816-4A07-8D12-473DC30D7196}">
      <dgm:prSet/>
      <dgm:spPr/>
      <dgm:t>
        <a:bodyPr/>
        <a:lstStyle/>
        <a:p>
          <a:endParaRPr lang="en-IN"/>
        </a:p>
      </dgm:t>
    </dgm:pt>
    <dgm:pt modelId="{C230CEAA-BF30-48C1-B41B-8F8FCE5A6C77}" type="sibTrans" cxnId="{D5C1A4EB-7816-4A07-8D12-473DC30D7196}">
      <dgm:prSet/>
      <dgm:spPr/>
      <dgm:t>
        <a:bodyPr/>
        <a:lstStyle/>
        <a:p>
          <a:endParaRPr lang="en-IN"/>
        </a:p>
      </dgm:t>
    </dgm:pt>
    <dgm:pt modelId="{AB29F232-F549-465A-A69F-6312C2A9FF9C}">
      <dgm:prSet phldrT="[Text]" phldr="0"/>
      <dgm:spPr/>
      <dgm:t>
        <a:bodyPr/>
        <a:lstStyle/>
        <a:p>
          <a:r>
            <a:rPr lang="en-US" dirty="0"/>
            <a:t>Instantiate two processor modules (dual-core) and handle common resource sharing via a separate bus arbiter. Testing via a testbench</a:t>
          </a:r>
          <a:endParaRPr lang="en-IN" dirty="0"/>
        </a:p>
      </dgm:t>
    </dgm:pt>
    <dgm:pt modelId="{83F00B36-4D33-4098-ACAE-2C94BB13BF36}" type="parTrans" cxnId="{F874FA31-2CE8-4741-8FDB-0577EEB71939}">
      <dgm:prSet/>
      <dgm:spPr/>
      <dgm:t>
        <a:bodyPr/>
        <a:lstStyle/>
        <a:p>
          <a:endParaRPr lang="en-IN"/>
        </a:p>
      </dgm:t>
    </dgm:pt>
    <dgm:pt modelId="{23658AA7-44C9-4608-BC36-C02F93E28124}" type="sibTrans" cxnId="{F874FA31-2CE8-4741-8FDB-0577EEB71939}">
      <dgm:prSet/>
      <dgm:spPr/>
      <dgm:t>
        <a:bodyPr/>
        <a:lstStyle/>
        <a:p>
          <a:endParaRPr lang="en-IN"/>
        </a:p>
      </dgm:t>
    </dgm:pt>
    <dgm:pt modelId="{2B70E864-E8F0-4134-91D3-33B48EC8BC63}">
      <dgm:prSet phldrT="[Text]" phldr="0"/>
      <dgm:spPr/>
      <dgm:t>
        <a:bodyPr/>
        <a:lstStyle/>
        <a:p>
          <a:r>
            <a:rPr lang="en-US" dirty="0"/>
            <a:t>Generate bitstream and final project demo on FPGA. May need to manage utilized resources like LUTs.</a:t>
          </a:r>
          <a:endParaRPr lang="en-IN" dirty="0"/>
        </a:p>
      </dgm:t>
    </dgm:pt>
    <dgm:pt modelId="{6C6E6520-9BE4-4CD7-AD2A-CB88DC95FB97}" type="parTrans" cxnId="{A5632301-FA14-402B-BF52-81A1B5E1D9D0}">
      <dgm:prSet/>
      <dgm:spPr/>
      <dgm:t>
        <a:bodyPr/>
        <a:lstStyle/>
        <a:p>
          <a:endParaRPr lang="en-IN"/>
        </a:p>
      </dgm:t>
    </dgm:pt>
    <dgm:pt modelId="{8700B79F-0270-4362-8BC9-CE363343955C}" type="sibTrans" cxnId="{A5632301-FA14-402B-BF52-81A1B5E1D9D0}">
      <dgm:prSet/>
      <dgm:spPr/>
      <dgm:t>
        <a:bodyPr/>
        <a:lstStyle/>
        <a:p>
          <a:endParaRPr lang="en-IN"/>
        </a:p>
      </dgm:t>
    </dgm:pt>
    <dgm:pt modelId="{A3349B6E-919A-41E1-A17E-6F81F08F637C}" type="pres">
      <dgm:prSet presAssocID="{206AD8CC-3862-4FF5-A514-AD7578D0824D}" presName="diagram" presStyleCnt="0">
        <dgm:presLayoutVars>
          <dgm:dir/>
          <dgm:resizeHandles val="exact"/>
        </dgm:presLayoutVars>
      </dgm:prSet>
      <dgm:spPr/>
    </dgm:pt>
    <dgm:pt modelId="{393655E7-57CB-48E1-9913-527BAF6874D6}" type="pres">
      <dgm:prSet presAssocID="{DB39A13A-1E65-4918-9274-4044ECA502C7}" presName="node" presStyleLbl="node1" presStyleIdx="0" presStyleCnt="5">
        <dgm:presLayoutVars>
          <dgm:bulletEnabled val="1"/>
        </dgm:presLayoutVars>
      </dgm:prSet>
      <dgm:spPr/>
    </dgm:pt>
    <dgm:pt modelId="{3447FAB3-B162-4D0C-9585-B0C1FA2893EE}" type="pres">
      <dgm:prSet presAssocID="{A391DC1D-F5C8-48F1-9CEA-4E71D51D358C}" presName="sibTrans" presStyleLbl="sibTrans2D1" presStyleIdx="0" presStyleCnt="4"/>
      <dgm:spPr/>
    </dgm:pt>
    <dgm:pt modelId="{FB4D432B-CF7B-403A-BF65-CD1DB627353A}" type="pres">
      <dgm:prSet presAssocID="{A391DC1D-F5C8-48F1-9CEA-4E71D51D358C}" presName="connectorText" presStyleLbl="sibTrans2D1" presStyleIdx="0" presStyleCnt="4"/>
      <dgm:spPr/>
    </dgm:pt>
    <dgm:pt modelId="{6F39DE1A-DDC3-430B-8BA3-276783CB7F04}" type="pres">
      <dgm:prSet presAssocID="{BAE5E4E2-8F67-4791-B915-8A70B179CD74}" presName="node" presStyleLbl="node1" presStyleIdx="1" presStyleCnt="5">
        <dgm:presLayoutVars>
          <dgm:bulletEnabled val="1"/>
        </dgm:presLayoutVars>
      </dgm:prSet>
      <dgm:spPr/>
    </dgm:pt>
    <dgm:pt modelId="{98EB3648-4A68-427A-911D-267D4FB6EB6E}" type="pres">
      <dgm:prSet presAssocID="{A9DFF94E-3E20-4DFD-821D-F47BAE770505}" presName="sibTrans" presStyleLbl="sibTrans2D1" presStyleIdx="1" presStyleCnt="4"/>
      <dgm:spPr/>
    </dgm:pt>
    <dgm:pt modelId="{7A5CA6AE-11C4-41FB-9172-0D5018ACAF17}" type="pres">
      <dgm:prSet presAssocID="{A9DFF94E-3E20-4DFD-821D-F47BAE770505}" presName="connectorText" presStyleLbl="sibTrans2D1" presStyleIdx="1" presStyleCnt="4"/>
      <dgm:spPr/>
    </dgm:pt>
    <dgm:pt modelId="{04E5537F-5246-4336-8BF2-80FBBF5DEB43}" type="pres">
      <dgm:prSet presAssocID="{8D68DD17-9BDA-423A-888D-30930B244791}" presName="node" presStyleLbl="node1" presStyleIdx="2" presStyleCnt="5">
        <dgm:presLayoutVars>
          <dgm:bulletEnabled val="1"/>
        </dgm:presLayoutVars>
      </dgm:prSet>
      <dgm:spPr/>
    </dgm:pt>
    <dgm:pt modelId="{FB03EB38-5E9C-4A97-9B1E-3D43EB5B017F}" type="pres">
      <dgm:prSet presAssocID="{C230CEAA-BF30-48C1-B41B-8F8FCE5A6C77}" presName="sibTrans" presStyleLbl="sibTrans2D1" presStyleIdx="2" presStyleCnt="4"/>
      <dgm:spPr/>
    </dgm:pt>
    <dgm:pt modelId="{BCCA2A4B-06B7-435B-A4BE-667FA09B0141}" type="pres">
      <dgm:prSet presAssocID="{C230CEAA-BF30-48C1-B41B-8F8FCE5A6C77}" presName="connectorText" presStyleLbl="sibTrans2D1" presStyleIdx="2" presStyleCnt="4"/>
      <dgm:spPr/>
    </dgm:pt>
    <dgm:pt modelId="{4DABA429-1F09-4CAE-9436-A2D615EDA371}" type="pres">
      <dgm:prSet presAssocID="{AB29F232-F549-465A-A69F-6312C2A9FF9C}" presName="node" presStyleLbl="node1" presStyleIdx="3" presStyleCnt="5">
        <dgm:presLayoutVars>
          <dgm:bulletEnabled val="1"/>
        </dgm:presLayoutVars>
      </dgm:prSet>
      <dgm:spPr/>
    </dgm:pt>
    <dgm:pt modelId="{D874E39A-FECB-4359-912C-35B3C07A8608}" type="pres">
      <dgm:prSet presAssocID="{23658AA7-44C9-4608-BC36-C02F93E28124}" presName="sibTrans" presStyleLbl="sibTrans2D1" presStyleIdx="3" presStyleCnt="4"/>
      <dgm:spPr/>
    </dgm:pt>
    <dgm:pt modelId="{1F80E10F-843B-4F13-B304-464201E866BA}" type="pres">
      <dgm:prSet presAssocID="{23658AA7-44C9-4608-BC36-C02F93E28124}" presName="connectorText" presStyleLbl="sibTrans2D1" presStyleIdx="3" presStyleCnt="4"/>
      <dgm:spPr/>
    </dgm:pt>
    <dgm:pt modelId="{FCFA768F-BDD0-463E-B190-8D047779D215}" type="pres">
      <dgm:prSet presAssocID="{2B70E864-E8F0-4134-91D3-33B48EC8BC63}" presName="node" presStyleLbl="node1" presStyleIdx="4" presStyleCnt="5">
        <dgm:presLayoutVars>
          <dgm:bulletEnabled val="1"/>
        </dgm:presLayoutVars>
      </dgm:prSet>
      <dgm:spPr/>
    </dgm:pt>
  </dgm:ptLst>
  <dgm:cxnLst>
    <dgm:cxn modelId="{A5632301-FA14-402B-BF52-81A1B5E1D9D0}" srcId="{206AD8CC-3862-4FF5-A514-AD7578D0824D}" destId="{2B70E864-E8F0-4134-91D3-33B48EC8BC63}" srcOrd="4" destOrd="0" parTransId="{6C6E6520-9BE4-4CD7-AD2A-CB88DC95FB97}" sibTransId="{8700B79F-0270-4362-8BC9-CE363343955C}"/>
    <dgm:cxn modelId="{F874FA31-2CE8-4741-8FDB-0577EEB71939}" srcId="{206AD8CC-3862-4FF5-A514-AD7578D0824D}" destId="{AB29F232-F549-465A-A69F-6312C2A9FF9C}" srcOrd="3" destOrd="0" parTransId="{83F00B36-4D33-4098-ACAE-2C94BB13BF36}" sibTransId="{23658AA7-44C9-4608-BC36-C02F93E28124}"/>
    <dgm:cxn modelId="{860E7432-9B74-49B7-9A6A-A6E31B2D5A92}" type="presOf" srcId="{8D68DD17-9BDA-423A-888D-30930B244791}" destId="{04E5537F-5246-4336-8BF2-80FBBF5DEB43}" srcOrd="0" destOrd="0" presId="urn:microsoft.com/office/officeart/2005/8/layout/process5"/>
    <dgm:cxn modelId="{FA91BB67-3EBA-49FA-916D-9DDC98923988}" srcId="{206AD8CC-3862-4FF5-A514-AD7578D0824D}" destId="{DB39A13A-1E65-4918-9274-4044ECA502C7}" srcOrd="0" destOrd="0" parTransId="{28C82907-10AB-42C9-93DA-57F29CC569F0}" sibTransId="{A391DC1D-F5C8-48F1-9CEA-4E71D51D358C}"/>
    <dgm:cxn modelId="{BF3A7D4C-5C3C-406A-986D-D2166D2B3D69}" type="presOf" srcId="{A391DC1D-F5C8-48F1-9CEA-4E71D51D358C}" destId="{FB4D432B-CF7B-403A-BF65-CD1DB627353A}" srcOrd="1" destOrd="0" presId="urn:microsoft.com/office/officeart/2005/8/layout/process5"/>
    <dgm:cxn modelId="{69BAAD80-5B91-4DDF-856A-9D04E4FAE9EC}" type="presOf" srcId="{C230CEAA-BF30-48C1-B41B-8F8FCE5A6C77}" destId="{BCCA2A4B-06B7-435B-A4BE-667FA09B0141}" srcOrd="1" destOrd="0" presId="urn:microsoft.com/office/officeart/2005/8/layout/process5"/>
    <dgm:cxn modelId="{B6B15CA0-DB27-46CD-B298-99FFF0099EAD}" type="presOf" srcId="{C230CEAA-BF30-48C1-B41B-8F8FCE5A6C77}" destId="{FB03EB38-5E9C-4A97-9B1E-3D43EB5B017F}" srcOrd="0" destOrd="0" presId="urn:microsoft.com/office/officeart/2005/8/layout/process5"/>
    <dgm:cxn modelId="{539D10A1-0925-47B9-ABCE-05892B0D231C}" type="presOf" srcId="{A9DFF94E-3E20-4DFD-821D-F47BAE770505}" destId="{7A5CA6AE-11C4-41FB-9172-0D5018ACAF17}" srcOrd="1" destOrd="0" presId="urn:microsoft.com/office/officeart/2005/8/layout/process5"/>
    <dgm:cxn modelId="{48E701A6-6BC6-4374-B4D2-956AE96A16C0}" type="presOf" srcId="{23658AA7-44C9-4608-BC36-C02F93E28124}" destId="{D874E39A-FECB-4359-912C-35B3C07A8608}" srcOrd="0" destOrd="0" presId="urn:microsoft.com/office/officeart/2005/8/layout/process5"/>
    <dgm:cxn modelId="{27A74FAE-CCE3-4B9D-8EC6-08476E4A9076}" type="presOf" srcId="{AB29F232-F549-465A-A69F-6312C2A9FF9C}" destId="{4DABA429-1F09-4CAE-9436-A2D615EDA371}" srcOrd="0" destOrd="0" presId="urn:microsoft.com/office/officeart/2005/8/layout/process5"/>
    <dgm:cxn modelId="{3D2A62B7-0CE9-4402-94D7-02E6935B5F94}" type="presOf" srcId="{23658AA7-44C9-4608-BC36-C02F93E28124}" destId="{1F80E10F-843B-4F13-B304-464201E866BA}" srcOrd="1" destOrd="0" presId="urn:microsoft.com/office/officeart/2005/8/layout/process5"/>
    <dgm:cxn modelId="{1D09A8BB-5669-48FA-8314-A58C01D40A25}" type="presOf" srcId="{BAE5E4E2-8F67-4791-B915-8A70B179CD74}" destId="{6F39DE1A-DDC3-430B-8BA3-276783CB7F04}" srcOrd="0" destOrd="0" presId="urn:microsoft.com/office/officeart/2005/8/layout/process5"/>
    <dgm:cxn modelId="{7F5356D1-CAB0-45D9-9FF2-8CAEA14E8AE8}" type="presOf" srcId="{A391DC1D-F5C8-48F1-9CEA-4E71D51D358C}" destId="{3447FAB3-B162-4D0C-9585-B0C1FA2893EE}" srcOrd="0" destOrd="0" presId="urn:microsoft.com/office/officeart/2005/8/layout/process5"/>
    <dgm:cxn modelId="{8701E7D6-FE82-4320-A745-7CB4AB7F4013}" srcId="{206AD8CC-3862-4FF5-A514-AD7578D0824D}" destId="{BAE5E4E2-8F67-4791-B915-8A70B179CD74}" srcOrd="1" destOrd="0" parTransId="{CAC6A8A2-49C4-47EA-8C9E-1F688EE77704}" sibTransId="{A9DFF94E-3E20-4DFD-821D-F47BAE770505}"/>
    <dgm:cxn modelId="{9EAF27D8-B237-4D41-9564-0C45D2A9AF59}" type="presOf" srcId="{206AD8CC-3862-4FF5-A514-AD7578D0824D}" destId="{A3349B6E-919A-41E1-A17E-6F81F08F637C}" srcOrd="0" destOrd="0" presId="urn:microsoft.com/office/officeart/2005/8/layout/process5"/>
    <dgm:cxn modelId="{BE6EC8DC-4BC6-4A77-B75E-88BC7E0E4C69}" type="presOf" srcId="{A9DFF94E-3E20-4DFD-821D-F47BAE770505}" destId="{98EB3648-4A68-427A-911D-267D4FB6EB6E}" srcOrd="0" destOrd="0" presId="urn:microsoft.com/office/officeart/2005/8/layout/process5"/>
    <dgm:cxn modelId="{D5C1A4EB-7816-4A07-8D12-473DC30D7196}" srcId="{206AD8CC-3862-4FF5-A514-AD7578D0824D}" destId="{8D68DD17-9BDA-423A-888D-30930B244791}" srcOrd="2" destOrd="0" parTransId="{D6DE8A3B-7AD6-41C9-B86E-4C82BE5FCB0F}" sibTransId="{C230CEAA-BF30-48C1-B41B-8F8FCE5A6C77}"/>
    <dgm:cxn modelId="{CA395DF4-A16E-4F66-BBBA-284FE3C9A23C}" type="presOf" srcId="{DB39A13A-1E65-4918-9274-4044ECA502C7}" destId="{393655E7-57CB-48E1-9913-527BAF6874D6}" srcOrd="0" destOrd="0" presId="urn:microsoft.com/office/officeart/2005/8/layout/process5"/>
    <dgm:cxn modelId="{6568B2F4-1C60-49EF-A5F8-96E3A64D3BF7}" type="presOf" srcId="{2B70E864-E8F0-4134-91D3-33B48EC8BC63}" destId="{FCFA768F-BDD0-463E-B190-8D047779D215}" srcOrd="0" destOrd="0" presId="urn:microsoft.com/office/officeart/2005/8/layout/process5"/>
    <dgm:cxn modelId="{DFBC71D1-813C-408E-9F50-1748F435AA28}" type="presParOf" srcId="{A3349B6E-919A-41E1-A17E-6F81F08F637C}" destId="{393655E7-57CB-48E1-9913-527BAF6874D6}" srcOrd="0" destOrd="0" presId="urn:microsoft.com/office/officeart/2005/8/layout/process5"/>
    <dgm:cxn modelId="{5D5D658F-9209-467C-B4F0-45BFD2D86349}" type="presParOf" srcId="{A3349B6E-919A-41E1-A17E-6F81F08F637C}" destId="{3447FAB3-B162-4D0C-9585-B0C1FA2893EE}" srcOrd="1" destOrd="0" presId="urn:microsoft.com/office/officeart/2005/8/layout/process5"/>
    <dgm:cxn modelId="{D4902AA2-7247-4213-BB15-163EA4EB1C6A}" type="presParOf" srcId="{3447FAB3-B162-4D0C-9585-B0C1FA2893EE}" destId="{FB4D432B-CF7B-403A-BF65-CD1DB627353A}" srcOrd="0" destOrd="0" presId="urn:microsoft.com/office/officeart/2005/8/layout/process5"/>
    <dgm:cxn modelId="{962F24F3-5E11-4C91-9A6F-985323BE5571}" type="presParOf" srcId="{A3349B6E-919A-41E1-A17E-6F81F08F637C}" destId="{6F39DE1A-DDC3-430B-8BA3-276783CB7F04}" srcOrd="2" destOrd="0" presId="urn:microsoft.com/office/officeart/2005/8/layout/process5"/>
    <dgm:cxn modelId="{62CF3116-33C8-4C9D-9D23-46FC25B6873B}" type="presParOf" srcId="{A3349B6E-919A-41E1-A17E-6F81F08F637C}" destId="{98EB3648-4A68-427A-911D-267D4FB6EB6E}" srcOrd="3" destOrd="0" presId="urn:microsoft.com/office/officeart/2005/8/layout/process5"/>
    <dgm:cxn modelId="{7F989734-34FB-45B2-BE97-21F0FB5DE1BC}" type="presParOf" srcId="{98EB3648-4A68-427A-911D-267D4FB6EB6E}" destId="{7A5CA6AE-11C4-41FB-9172-0D5018ACAF17}" srcOrd="0" destOrd="0" presId="urn:microsoft.com/office/officeart/2005/8/layout/process5"/>
    <dgm:cxn modelId="{910D9825-FD43-4294-85EB-18C0E5076573}" type="presParOf" srcId="{A3349B6E-919A-41E1-A17E-6F81F08F637C}" destId="{04E5537F-5246-4336-8BF2-80FBBF5DEB43}" srcOrd="4" destOrd="0" presId="urn:microsoft.com/office/officeart/2005/8/layout/process5"/>
    <dgm:cxn modelId="{A671D3F8-3848-418D-9772-08E97153C105}" type="presParOf" srcId="{A3349B6E-919A-41E1-A17E-6F81F08F637C}" destId="{FB03EB38-5E9C-4A97-9B1E-3D43EB5B017F}" srcOrd="5" destOrd="0" presId="urn:microsoft.com/office/officeart/2005/8/layout/process5"/>
    <dgm:cxn modelId="{73CF350F-8415-4ED7-94E5-025F4F0D0636}" type="presParOf" srcId="{FB03EB38-5E9C-4A97-9B1E-3D43EB5B017F}" destId="{BCCA2A4B-06B7-435B-A4BE-667FA09B0141}" srcOrd="0" destOrd="0" presId="urn:microsoft.com/office/officeart/2005/8/layout/process5"/>
    <dgm:cxn modelId="{4489A8ED-8439-40A3-B8A0-B8189E0ED714}" type="presParOf" srcId="{A3349B6E-919A-41E1-A17E-6F81F08F637C}" destId="{4DABA429-1F09-4CAE-9436-A2D615EDA371}" srcOrd="6" destOrd="0" presId="urn:microsoft.com/office/officeart/2005/8/layout/process5"/>
    <dgm:cxn modelId="{C3FD3C85-3481-4B51-B822-C31EF7C43298}" type="presParOf" srcId="{A3349B6E-919A-41E1-A17E-6F81F08F637C}" destId="{D874E39A-FECB-4359-912C-35B3C07A8608}" srcOrd="7" destOrd="0" presId="urn:microsoft.com/office/officeart/2005/8/layout/process5"/>
    <dgm:cxn modelId="{F13DBAE9-4276-48AE-9D3C-6E7E1EF89959}" type="presParOf" srcId="{D874E39A-FECB-4359-912C-35B3C07A8608}" destId="{1F80E10F-843B-4F13-B304-464201E866BA}" srcOrd="0" destOrd="0" presId="urn:microsoft.com/office/officeart/2005/8/layout/process5"/>
    <dgm:cxn modelId="{3ABEE6B3-215B-4707-B64B-F7B860A70983}" type="presParOf" srcId="{A3349B6E-919A-41E1-A17E-6F81F08F637C}" destId="{FCFA768F-BDD0-463E-B190-8D047779D21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6AD8CC-3862-4FF5-A514-AD7578D0824D}" type="doc">
      <dgm:prSet loTypeId="urn:microsoft.com/office/officeart/2005/8/layout/process5" loCatId="process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DB39A13A-1E65-4918-9274-4044ECA502C7}">
      <dgm:prSet phldrT="[Text]" phldr="0"/>
      <dgm:spPr/>
      <dgm:t>
        <a:bodyPr/>
        <a:lstStyle/>
        <a:p>
          <a:r>
            <a:rPr lang="en-US" dirty="0"/>
            <a:t>Convert existing code to a 5-stage pipeline with RV32M. Test on simple assembly codes via a testbench.</a:t>
          </a:r>
          <a:endParaRPr lang="en-IN" dirty="0"/>
        </a:p>
      </dgm:t>
    </dgm:pt>
    <dgm:pt modelId="{28C82907-10AB-42C9-93DA-57F29CC569F0}" type="parTrans" cxnId="{FA91BB67-3EBA-49FA-916D-9DDC98923988}">
      <dgm:prSet/>
      <dgm:spPr/>
      <dgm:t>
        <a:bodyPr/>
        <a:lstStyle/>
        <a:p>
          <a:endParaRPr lang="en-IN"/>
        </a:p>
      </dgm:t>
    </dgm:pt>
    <dgm:pt modelId="{A391DC1D-F5C8-48F1-9CEA-4E71D51D358C}" type="sibTrans" cxnId="{FA91BB67-3EBA-49FA-916D-9DDC98923988}">
      <dgm:prSet/>
      <dgm:spPr/>
      <dgm:t>
        <a:bodyPr/>
        <a:lstStyle/>
        <a:p>
          <a:endParaRPr lang="en-IN"/>
        </a:p>
      </dgm:t>
    </dgm:pt>
    <dgm:pt modelId="{BAE5E4E2-8F67-4791-B915-8A70B179CD74}">
      <dgm:prSet phldrT="[Text]" phldr="0"/>
      <dgm:spPr/>
      <dgm:t>
        <a:bodyPr/>
        <a:lstStyle/>
        <a:p>
          <a:r>
            <a:rPr lang="en-US" dirty="0"/>
            <a:t>Incorporate Branch Prediction(BTB) and L1 data and instruction caches. Test functioning via a testbench as well as run bitstream on FPGA.</a:t>
          </a:r>
          <a:endParaRPr lang="en-IN" dirty="0"/>
        </a:p>
      </dgm:t>
    </dgm:pt>
    <dgm:pt modelId="{CAC6A8A2-49C4-47EA-8C9E-1F688EE77704}" type="parTrans" cxnId="{8701E7D6-FE82-4320-A745-7CB4AB7F4013}">
      <dgm:prSet/>
      <dgm:spPr/>
      <dgm:t>
        <a:bodyPr/>
        <a:lstStyle/>
        <a:p>
          <a:endParaRPr lang="en-IN"/>
        </a:p>
      </dgm:t>
    </dgm:pt>
    <dgm:pt modelId="{A9DFF94E-3E20-4DFD-821D-F47BAE770505}" type="sibTrans" cxnId="{8701E7D6-FE82-4320-A745-7CB4AB7F4013}">
      <dgm:prSet/>
      <dgm:spPr/>
      <dgm:t>
        <a:bodyPr/>
        <a:lstStyle/>
        <a:p>
          <a:endParaRPr lang="en-IN"/>
        </a:p>
      </dgm:t>
    </dgm:pt>
    <dgm:pt modelId="{8D68DD17-9BDA-423A-888D-30930B244791}">
      <dgm:prSet phldrT="[Text]" phldr="0"/>
      <dgm:spPr/>
      <dgm:t>
        <a:bodyPr/>
        <a:lstStyle/>
        <a:p>
          <a:r>
            <a:rPr lang="en-US" dirty="0"/>
            <a:t>Incorporate atomic operations (RV32A) within the pipeline ensuring proper data locking. Test functioning via testbench</a:t>
          </a:r>
          <a:endParaRPr lang="en-IN" dirty="0"/>
        </a:p>
      </dgm:t>
    </dgm:pt>
    <dgm:pt modelId="{D6DE8A3B-7AD6-41C9-B86E-4C82BE5FCB0F}" type="parTrans" cxnId="{D5C1A4EB-7816-4A07-8D12-473DC30D7196}">
      <dgm:prSet/>
      <dgm:spPr/>
      <dgm:t>
        <a:bodyPr/>
        <a:lstStyle/>
        <a:p>
          <a:endParaRPr lang="en-IN"/>
        </a:p>
      </dgm:t>
    </dgm:pt>
    <dgm:pt modelId="{C230CEAA-BF30-48C1-B41B-8F8FCE5A6C77}" type="sibTrans" cxnId="{D5C1A4EB-7816-4A07-8D12-473DC30D7196}">
      <dgm:prSet/>
      <dgm:spPr/>
      <dgm:t>
        <a:bodyPr/>
        <a:lstStyle/>
        <a:p>
          <a:endParaRPr lang="en-IN"/>
        </a:p>
      </dgm:t>
    </dgm:pt>
    <dgm:pt modelId="{AB29F232-F549-465A-A69F-6312C2A9FF9C}">
      <dgm:prSet phldrT="[Text]" phldr="0"/>
      <dgm:spPr/>
      <dgm:t>
        <a:bodyPr/>
        <a:lstStyle/>
        <a:p>
          <a:r>
            <a:rPr lang="en-US" dirty="0"/>
            <a:t>Instantiate two processor modules (dual-core) and handle common resource sharing via a separate bus arbiter. Testing via a testbench</a:t>
          </a:r>
          <a:endParaRPr lang="en-IN" dirty="0"/>
        </a:p>
      </dgm:t>
    </dgm:pt>
    <dgm:pt modelId="{83F00B36-4D33-4098-ACAE-2C94BB13BF36}" type="parTrans" cxnId="{F874FA31-2CE8-4741-8FDB-0577EEB71939}">
      <dgm:prSet/>
      <dgm:spPr/>
      <dgm:t>
        <a:bodyPr/>
        <a:lstStyle/>
        <a:p>
          <a:endParaRPr lang="en-IN"/>
        </a:p>
      </dgm:t>
    </dgm:pt>
    <dgm:pt modelId="{23658AA7-44C9-4608-BC36-C02F93E28124}" type="sibTrans" cxnId="{F874FA31-2CE8-4741-8FDB-0577EEB71939}">
      <dgm:prSet/>
      <dgm:spPr/>
      <dgm:t>
        <a:bodyPr/>
        <a:lstStyle/>
        <a:p>
          <a:endParaRPr lang="en-IN"/>
        </a:p>
      </dgm:t>
    </dgm:pt>
    <dgm:pt modelId="{2B70E864-E8F0-4134-91D3-33B48EC8BC63}">
      <dgm:prSet phldrT="[Text]" phldr="0"/>
      <dgm:spPr/>
      <dgm:t>
        <a:bodyPr/>
        <a:lstStyle/>
        <a:p>
          <a:r>
            <a:rPr lang="en-US" dirty="0"/>
            <a:t>Generate bitstream and final project demo on FPGA. May need to manage utilized resources like LUTs.</a:t>
          </a:r>
          <a:endParaRPr lang="en-IN" dirty="0"/>
        </a:p>
      </dgm:t>
    </dgm:pt>
    <dgm:pt modelId="{6C6E6520-9BE4-4CD7-AD2A-CB88DC95FB97}" type="parTrans" cxnId="{A5632301-FA14-402B-BF52-81A1B5E1D9D0}">
      <dgm:prSet/>
      <dgm:spPr/>
      <dgm:t>
        <a:bodyPr/>
        <a:lstStyle/>
        <a:p>
          <a:endParaRPr lang="en-IN"/>
        </a:p>
      </dgm:t>
    </dgm:pt>
    <dgm:pt modelId="{8700B79F-0270-4362-8BC9-CE363343955C}" type="sibTrans" cxnId="{A5632301-FA14-402B-BF52-81A1B5E1D9D0}">
      <dgm:prSet/>
      <dgm:spPr/>
      <dgm:t>
        <a:bodyPr/>
        <a:lstStyle/>
        <a:p>
          <a:endParaRPr lang="en-IN"/>
        </a:p>
      </dgm:t>
    </dgm:pt>
    <dgm:pt modelId="{A3349B6E-919A-41E1-A17E-6F81F08F637C}" type="pres">
      <dgm:prSet presAssocID="{206AD8CC-3862-4FF5-A514-AD7578D0824D}" presName="diagram" presStyleCnt="0">
        <dgm:presLayoutVars>
          <dgm:dir/>
          <dgm:resizeHandles val="exact"/>
        </dgm:presLayoutVars>
      </dgm:prSet>
      <dgm:spPr/>
    </dgm:pt>
    <dgm:pt modelId="{393655E7-57CB-48E1-9913-527BAF6874D6}" type="pres">
      <dgm:prSet presAssocID="{DB39A13A-1E65-4918-9274-4044ECA502C7}" presName="node" presStyleLbl="node1" presStyleIdx="0" presStyleCnt="5">
        <dgm:presLayoutVars>
          <dgm:bulletEnabled val="1"/>
        </dgm:presLayoutVars>
      </dgm:prSet>
      <dgm:spPr/>
    </dgm:pt>
    <dgm:pt modelId="{3447FAB3-B162-4D0C-9585-B0C1FA2893EE}" type="pres">
      <dgm:prSet presAssocID="{A391DC1D-F5C8-48F1-9CEA-4E71D51D358C}" presName="sibTrans" presStyleLbl="sibTrans2D1" presStyleIdx="0" presStyleCnt="4"/>
      <dgm:spPr/>
    </dgm:pt>
    <dgm:pt modelId="{FB4D432B-CF7B-403A-BF65-CD1DB627353A}" type="pres">
      <dgm:prSet presAssocID="{A391DC1D-F5C8-48F1-9CEA-4E71D51D358C}" presName="connectorText" presStyleLbl="sibTrans2D1" presStyleIdx="0" presStyleCnt="4"/>
      <dgm:spPr/>
    </dgm:pt>
    <dgm:pt modelId="{6F39DE1A-DDC3-430B-8BA3-276783CB7F04}" type="pres">
      <dgm:prSet presAssocID="{BAE5E4E2-8F67-4791-B915-8A70B179CD74}" presName="node" presStyleLbl="node1" presStyleIdx="1" presStyleCnt="5">
        <dgm:presLayoutVars>
          <dgm:bulletEnabled val="1"/>
        </dgm:presLayoutVars>
      </dgm:prSet>
      <dgm:spPr/>
    </dgm:pt>
    <dgm:pt modelId="{98EB3648-4A68-427A-911D-267D4FB6EB6E}" type="pres">
      <dgm:prSet presAssocID="{A9DFF94E-3E20-4DFD-821D-F47BAE770505}" presName="sibTrans" presStyleLbl="sibTrans2D1" presStyleIdx="1" presStyleCnt="4"/>
      <dgm:spPr/>
    </dgm:pt>
    <dgm:pt modelId="{7A5CA6AE-11C4-41FB-9172-0D5018ACAF17}" type="pres">
      <dgm:prSet presAssocID="{A9DFF94E-3E20-4DFD-821D-F47BAE770505}" presName="connectorText" presStyleLbl="sibTrans2D1" presStyleIdx="1" presStyleCnt="4"/>
      <dgm:spPr/>
    </dgm:pt>
    <dgm:pt modelId="{04E5537F-5246-4336-8BF2-80FBBF5DEB43}" type="pres">
      <dgm:prSet presAssocID="{8D68DD17-9BDA-423A-888D-30930B244791}" presName="node" presStyleLbl="node1" presStyleIdx="2" presStyleCnt="5">
        <dgm:presLayoutVars>
          <dgm:bulletEnabled val="1"/>
        </dgm:presLayoutVars>
      </dgm:prSet>
      <dgm:spPr/>
    </dgm:pt>
    <dgm:pt modelId="{FB03EB38-5E9C-4A97-9B1E-3D43EB5B017F}" type="pres">
      <dgm:prSet presAssocID="{C230CEAA-BF30-48C1-B41B-8F8FCE5A6C77}" presName="sibTrans" presStyleLbl="sibTrans2D1" presStyleIdx="2" presStyleCnt="4"/>
      <dgm:spPr/>
    </dgm:pt>
    <dgm:pt modelId="{BCCA2A4B-06B7-435B-A4BE-667FA09B0141}" type="pres">
      <dgm:prSet presAssocID="{C230CEAA-BF30-48C1-B41B-8F8FCE5A6C77}" presName="connectorText" presStyleLbl="sibTrans2D1" presStyleIdx="2" presStyleCnt="4"/>
      <dgm:spPr/>
    </dgm:pt>
    <dgm:pt modelId="{4DABA429-1F09-4CAE-9436-A2D615EDA371}" type="pres">
      <dgm:prSet presAssocID="{AB29F232-F549-465A-A69F-6312C2A9FF9C}" presName="node" presStyleLbl="node1" presStyleIdx="3" presStyleCnt="5">
        <dgm:presLayoutVars>
          <dgm:bulletEnabled val="1"/>
        </dgm:presLayoutVars>
      </dgm:prSet>
      <dgm:spPr/>
    </dgm:pt>
    <dgm:pt modelId="{D874E39A-FECB-4359-912C-35B3C07A8608}" type="pres">
      <dgm:prSet presAssocID="{23658AA7-44C9-4608-BC36-C02F93E28124}" presName="sibTrans" presStyleLbl="sibTrans2D1" presStyleIdx="3" presStyleCnt="4"/>
      <dgm:spPr/>
    </dgm:pt>
    <dgm:pt modelId="{1F80E10F-843B-4F13-B304-464201E866BA}" type="pres">
      <dgm:prSet presAssocID="{23658AA7-44C9-4608-BC36-C02F93E28124}" presName="connectorText" presStyleLbl="sibTrans2D1" presStyleIdx="3" presStyleCnt="4"/>
      <dgm:spPr/>
    </dgm:pt>
    <dgm:pt modelId="{FCFA768F-BDD0-463E-B190-8D047779D215}" type="pres">
      <dgm:prSet presAssocID="{2B70E864-E8F0-4134-91D3-33B48EC8BC63}" presName="node" presStyleLbl="node1" presStyleIdx="4" presStyleCnt="5">
        <dgm:presLayoutVars>
          <dgm:bulletEnabled val="1"/>
        </dgm:presLayoutVars>
      </dgm:prSet>
      <dgm:spPr/>
    </dgm:pt>
  </dgm:ptLst>
  <dgm:cxnLst>
    <dgm:cxn modelId="{A5632301-FA14-402B-BF52-81A1B5E1D9D0}" srcId="{206AD8CC-3862-4FF5-A514-AD7578D0824D}" destId="{2B70E864-E8F0-4134-91D3-33B48EC8BC63}" srcOrd="4" destOrd="0" parTransId="{6C6E6520-9BE4-4CD7-AD2A-CB88DC95FB97}" sibTransId="{8700B79F-0270-4362-8BC9-CE363343955C}"/>
    <dgm:cxn modelId="{F874FA31-2CE8-4741-8FDB-0577EEB71939}" srcId="{206AD8CC-3862-4FF5-A514-AD7578D0824D}" destId="{AB29F232-F549-465A-A69F-6312C2A9FF9C}" srcOrd="3" destOrd="0" parTransId="{83F00B36-4D33-4098-ACAE-2C94BB13BF36}" sibTransId="{23658AA7-44C9-4608-BC36-C02F93E28124}"/>
    <dgm:cxn modelId="{860E7432-9B74-49B7-9A6A-A6E31B2D5A92}" type="presOf" srcId="{8D68DD17-9BDA-423A-888D-30930B244791}" destId="{04E5537F-5246-4336-8BF2-80FBBF5DEB43}" srcOrd="0" destOrd="0" presId="urn:microsoft.com/office/officeart/2005/8/layout/process5"/>
    <dgm:cxn modelId="{FA91BB67-3EBA-49FA-916D-9DDC98923988}" srcId="{206AD8CC-3862-4FF5-A514-AD7578D0824D}" destId="{DB39A13A-1E65-4918-9274-4044ECA502C7}" srcOrd="0" destOrd="0" parTransId="{28C82907-10AB-42C9-93DA-57F29CC569F0}" sibTransId="{A391DC1D-F5C8-48F1-9CEA-4E71D51D358C}"/>
    <dgm:cxn modelId="{BF3A7D4C-5C3C-406A-986D-D2166D2B3D69}" type="presOf" srcId="{A391DC1D-F5C8-48F1-9CEA-4E71D51D358C}" destId="{FB4D432B-CF7B-403A-BF65-CD1DB627353A}" srcOrd="1" destOrd="0" presId="urn:microsoft.com/office/officeart/2005/8/layout/process5"/>
    <dgm:cxn modelId="{69BAAD80-5B91-4DDF-856A-9D04E4FAE9EC}" type="presOf" srcId="{C230CEAA-BF30-48C1-B41B-8F8FCE5A6C77}" destId="{BCCA2A4B-06B7-435B-A4BE-667FA09B0141}" srcOrd="1" destOrd="0" presId="urn:microsoft.com/office/officeart/2005/8/layout/process5"/>
    <dgm:cxn modelId="{B6B15CA0-DB27-46CD-B298-99FFF0099EAD}" type="presOf" srcId="{C230CEAA-BF30-48C1-B41B-8F8FCE5A6C77}" destId="{FB03EB38-5E9C-4A97-9B1E-3D43EB5B017F}" srcOrd="0" destOrd="0" presId="urn:microsoft.com/office/officeart/2005/8/layout/process5"/>
    <dgm:cxn modelId="{539D10A1-0925-47B9-ABCE-05892B0D231C}" type="presOf" srcId="{A9DFF94E-3E20-4DFD-821D-F47BAE770505}" destId="{7A5CA6AE-11C4-41FB-9172-0D5018ACAF17}" srcOrd="1" destOrd="0" presId="urn:microsoft.com/office/officeart/2005/8/layout/process5"/>
    <dgm:cxn modelId="{48E701A6-6BC6-4374-B4D2-956AE96A16C0}" type="presOf" srcId="{23658AA7-44C9-4608-BC36-C02F93E28124}" destId="{D874E39A-FECB-4359-912C-35B3C07A8608}" srcOrd="0" destOrd="0" presId="urn:microsoft.com/office/officeart/2005/8/layout/process5"/>
    <dgm:cxn modelId="{27A74FAE-CCE3-4B9D-8EC6-08476E4A9076}" type="presOf" srcId="{AB29F232-F549-465A-A69F-6312C2A9FF9C}" destId="{4DABA429-1F09-4CAE-9436-A2D615EDA371}" srcOrd="0" destOrd="0" presId="urn:microsoft.com/office/officeart/2005/8/layout/process5"/>
    <dgm:cxn modelId="{3D2A62B7-0CE9-4402-94D7-02E6935B5F94}" type="presOf" srcId="{23658AA7-44C9-4608-BC36-C02F93E28124}" destId="{1F80E10F-843B-4F13-B304-464201E866BA}" srcOrd="1" destOrd="0" presId="urn:microsoft.com/office/officeart/2005/8/layout/process5"/>
    <dgm:cxn modelId="{1D09A8BB-5669-48FA-8314-A58C01D40A25}" type="presOf" srcId="{BAE5E4E2-8F67-4791-B915-8A70B179CD74}" destId="{6F39DE1A-DDC3-430B-8BA3-276783CB7F04}" srcOrd="0" destOrd="0" presId="urn:microsoft.com/office/officeart/2005/8/layout/process5"/>
    <dgm:cxn modelId="{7F5356D1-CAB0-45D9-9FF2-8CAEA14E8AE8}" type="presOf" srcId="{A391DC1D-F5C8-48F1-9CEA-4E71D51D358C}" destId="{3447FAB3-B162-4D0C-9585-B0C1FA2893EE}" srcOrd="0" destOrd="0" presId="urn:microsoft.com/office/officeart/2005/8/layout/process5"/>
    <dgm:cxn modelId="{8701E7D6-FE82-4320-A745-7CB4AB7F4013}" srcId="{206AD8CC-3862-4FF5-A514-AD7578D0824D}" destId="{BAE5E4E2-8F67-4791-B915-8A70B179CD74}" srcOrd="1" destOrd="0" parTransId="{CAC6A8A2-49C4-47EA-8C9E-1F688EE77704}" sibTransId="{A9DFF94E-3E20-4DFD-821D-F47BAE770505}"/>
    <dgm:cxn modelId="{9EAF27D8-B237-4D41-9564-0C45D2A9AF59}" type="presOf" srcId="{206AD8CC-3862-4FF5-A514-AD7578D0824D}" destId="{A3349B6E-919A-41E1-A17E-6F81F08F637C}" srcOrd="0" destOrd="0" presId="urn:microsoft.com/office/officeart/2005/8/layout/process5"/>
    <dgm:cxn modelId="{BE6EC8DC-4BC6-4A77-B75E-88BC7E0E4C69}" type="presOf" srcId="{A9DFF94E-3E20-4DFD-821D-F47BAE770505}" destId="{98EB3648-4A68-427A-911D-267D4FB6EB6E}" srcOrd="0" destOrd="0" presId="urn:microsoft.com/office/officeart/2005/8/layout/process5"/>
    <dgm:cxn modelId="{D5C1A4EB-7816-4A07-8D12-473DC30D7196}" srcId="{206AD8CC-3862-4FF5-A514-AD7578D0824D}" destId="{8D68DD17-9BDA-423A-888D-30930B244791}" srcOrd="2" destOrd="0" parTransId="{D6DE8A3B-7AD6-41C9-B86E-4C82BE5FCB0F}" sibTransId="{C230CEAA-BF30-48C1-B41B-8F8FCE5A6C77}"/>
    <dgm:cxn modelId="{CA395DF4-A16E-4F66-BBBA-284FE3C9A23C}" type="presOf" srcId="{DB39A13A-1E65-4918-9274-4044ECA502C7}" destId="{393655E7-57CB-48E1-9913-527BAF6874D6}" srcOrd="0" destOrd="0" presId="urn:microsoft.com/office/officeart/2005/8/layout/process5"/>
    <dgm:cxn modelId="{6568B2F4-1C60-49EF-A5F8-96E3A64D3BF7}" type="presOf" srcId="{2B70E864-E8F0-4134-91D3-33B48EC8BC63}" destId="{FCFA768F-BDD0-463E-B190-8D047779D215}" srcOrd="0" destOrd="0" presId="urn:microsoft.com/office/officeart/2005/8/layout/process5"/>
    <dgm:cxn modelId="{DFBC71D1-813C-408E-9F50-1748F435AA28}" type="presParOf" srcId="{A3349B6E-919A-41E1-A17E-6F81F08F637C}" destId="{393655E7-57CB-48E1-9913-527BAF6874D6}" srcOrd="0" destOrd="0" presId="urn:microsoft.com/office/officeart/2005/8/layout/process5"/>
    <dgm:cxn modelId="{5D5D658F-9209-467C-B4F0-45BFD2D86349}" type="presParOf" srcId="{A3349B6E-919A-41E1-A17E-6F81F08F637C}" destId="{3447FAB3-B162-4D0C-9585-B0C1FA2893EE}" srcOrd="1" destOrd="0" presId="urn:microsoft.com/office/officeart/2005/8/layout/process5"/>
    <dgm:cxn modelId="{D4902AA2-7247-4213-BB15-163EA4EB1C6A}" type="presParOf" srcId="{3447FAB3-B162-4D0C-9585-B0C1FA2893EE}" destId="{FB4D432B-CF7B-403A-BF65-CD1DB627353A}" srcOrd="0" destOrd="0" presId="urn:microsoft.com/office/officeart/2005/8/layout/process5"/>
    <dgm:cxn modelId="{962F24F3-5E11-4C91-9A6F-985323BE5571}" type="presParOf" srcId="{A3349B6E-919A-41E1-A17E-6F81F08F637C}" destId="{6F39DE1A-DDC3-430B-8BA3-276783CB7F04}" srcOrd="2" destOrd="0" presId="urn:microsoft.com/office/officeart/2005/8/layout/process5"/>
    <dgm:cxn modelId="{62CF3116-33C8-4C9D-9D23-46FC25B6873B}" type="presParOf" srcId="{A3349B6E-919A-41E1-A17E-6F81F08F637C}" destId="{98EB3648-4A68-427A-911D-267D4FB6EB6E}" srcOrd="3" destOrd="0" presId="urn:microsoft.com/office/officeart/2005/8/layout/process5"/>
    <dgm:cxn modelId="{7F989734-34FB-45B2-BE97-21F0FB5DE1BC}" type="presParOf" srcId="{98EB3648-4A68-427A-911D-267D4FB6EB6E}" destId="{7A5CA6AE-11C4-41FB-9172-0D5018ACAF17}" srcOrd="0" destOrd="0" presId="urn:microsoft.com/office/officeart/2005/8/layout/process5"/>
    <dgm:cxn modelId="{910D9825-FD43-4294-85EB-18C0E5076573}" type="presParOf" srcId="{A3349B6E-919A-41E1-A17E-6F81F08F637C}" destId="{04E5537F-5246-4336-8BF2-80FBBF5DEB43}" srcOrd="4" destOrd="0" presId="urn:microsoft.com/office/officeart/2005/8/layout/process5"/>
    <dgm:cxn modelId="{A671D3F8-3848-418D-9772-08E97153C105}" type="presParOf" srcId="{A3349B6E-919A-41E1-A17E-6F81F08F637C}" destId="{FB03EB38-5E9C-4A97-9B1E-3D43EB5B017F}" srcOrd="5" destOrd="0" presId="urn:microsoft.com/office/officeart/2005/8/layout/process5"/>
    <dgm:cxn modelId="{73CF350F-8415-4ED7-94E5-025F4F0D0636}" type="presParOf" srcId="{FB03EB38-5E9C-4A97-9B1E-3D43EB5B017F}" destId="{BCCA2A4B-06B7-435B-A4BE-667FA09B0141}" srcOrd="0" destOrd="0" presId="urn:microsoft.com/office/officeart/2005/8/layout/process5"/>
    <dgm:cxn modelId="{4489A8ED-8439-40A3-B8A0-B8189E0ED714}" type="presParOf" srcId="{A3349B6E-919A-41E1-A17E-6F81F08F637C}" destId="{4DABA429-1F09-4CAE-9436-A2D615EDA371}" srcOrd="6" destOrd="0" presId="urn:microsoft.com/office/officeart/2005/8/layout/process5"/>
    <dgm:cxn modelId="{C3FD3C85-3481-4B51-B822-C31EF7C43298}" type="presParOf" srcId="{A3349B6E-919A-41E1-A17E-6F81F08F637C}" destId="{D874E39A-FECB-4359-912C-35B3C07A8608}" srcOrd="7" destOrd="0" presId="urn:microsoft.com/office/officeart/2005/8/layout/process5"/>
    <dgm:cxn modelId="{F13DBAE9-4276-48AE-9D3C-6E7E1EF89959}" type="presParOf" srcId="{D874E39A-FECB-4359-912C-35B3C07A8608}" destId="{1F80E10F-843B-4F13-B304-464201E866BA}" srcOrd="0" destOrd="0" presId="urn:microsoft.com/office/officeart/2005/8/layout/process5"/>
    <dgm:cxn modelId="{3ABEE6B3-215B-4707-B64B-F7B860A70983}" type="presParOf" srcId="{A3349B6E-919A-41E1-A17E-6F81F08F637C}" destId="{FCFA768F-BDD0-463E-B190-8D047779D215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AA2D9C-439A-4DD8-981B-A465C56060AA}" type="doc">
      <dgm:prSet loTypeId="urn:microsoft.com/office/officeart/2005/8/layout/radial5" loCatId="relationship" qsTypeId="urn:microsoft.com/office/officeart/2005/8/quickstyle/3d5" qsCatId="3D" csTypeId="urn:microsoft.com/office/officeart/2005/8/colors/accent3_2" csCatId="accent3" phldr="1"/>
      <dgm:spPr/>
      <dgm:t>
        <a:bodyPr/>
        <a:lstStyle/>
        <a:p>
          <a:endParaRPr lang="en-IN"/>
        </a:p>
      </dgm:t>
    </dgm:pt>
    <dgm:pt modelId="{C4CAD973-C1B3-4196-BF7B-18E4D07188A0}">
      <dgm:prSet phldrT="[Text]" phldr="0"/>
      <dgm:spPr/>
      <dgm:t>
        <a:bodyPr/>
        <a:lstStyle/>
        <a:p>
          <a:r>
            <a:rPr lang="en-US" dirty="0"/>
            <a:t>Challenges </a:t>
          </a:r>
          <a:endParaRPr lang="en-IN" dirty="0"/>
        </a:p>
      </dgm:t>
    </dgm:pt>
    <dgm:pt modelId="{1AB6B350-1D07-4D56-8B65-6F22B07C714B}" type="parTrans" cxnId="{50743333-E7F2-4CA0-8A6B-9A6773146592}">
      <dgm:prSet/>
      <dgm:spPr/>
      <dgm:t>
        <a:bodyPr/>
        <a:lstStyle/>
        <a:p>
          <a:endParaRPr lang="en-IN"/>
        </a:p>
      </dgm:t>
    </dgm:pt>
    <dgm:pt modelId="{E678EF7F-9B52-4A41-B435-82F8EE8DDE41}" type="sibTrans" cxnId="{50743333-E7F2-4CA0-8A6B-9A6773146592}">
      <dgm:prSet/>
      <dgm:spPr/>
      <dgm:t>
        <a:bodyPr/>
        <a:lstStyle/>
        <a:p>
          <a:endParaRPr lang="en-IN"/>
        </a:p>
      </dgm:t>
    </dgm:pt>
    <dgm:pt modelId="{EFA19DA4-0D9C-4E87-9C60-D9BFE55A1D14}">
      <dgm:prSet phldrT="[Text]"/>
      <dgm:spPr/>
      <dgm:t>
        <a:bodyPr/>
        <a:lstStyle/>
        <a:p>
          <a:pPr>
            <a:buNone/>
          </a:pPr>
          <a:r>
            <a:rPr lang="en-US" dirty="0"/>
            <a:t>maintaining cache coherency across multiple cores during parallel execution</a:t>
          </a:r>
          <a:endParaRPr lang="en-IN" dirty="0"/>
        </a:p>
      </dgm:t>
    </dgm:pt>
    <dgm:pt modelId="{3BF9A1FD-C4B4-46B6-AD82-4CA94E628C2C}" type="parTrans" cxnId="{204B0E5E-3A46-4A4C-9E90-06BAF9B22BDD}">
      <dgm:prSet/>
      <dgm:spPr/>
      <dgm:t>
        <a:bodyPr/>
        <a:lstStyle/>
        <a:p>
          <a:endParaRPr lang="en-IN"/>
        </a:p>
      </dgm:t>
    </dgm:pt>
    <dgm:pt modelId="{1B4C23B6-4609-4659-9F88-C5244499FDEF}" type="sibTrans" cxnId="{204B0E5E-3A46-4A4C-9E90-06BAF9B22BDD}">
      <dgm:prSet/>
      <dgm:spPr/>
      <dgm:t>
        <a:bodyPr/>
        <a:lstStyle/>
        <a:p>
          <a:endParaRPr lang="en-IN"/>
        </a:p>
      </dgm:t>
    </dgm:pt>
    <dgm:pt modelId="{871BC42D-5D74-49C7-920C-94171FB789F1}">
      <dgm:prSet phldrT="[Text]"/>
      <dgm:spPr/>
      <dgm:t>
        <a:bodyPr/>
        <a:lstStyle/>
        <a:p>
          <a:pPr>
            <a:buNone/>
          </a:pPr>
          <a:r>
            <a:rPr lang="en-US" dirty="0"/>
            <a:t>ensuring integrity of inter-core atomic locks</a:t>
          </a:r>
          <a:endParaRPr lang="en-IN" dirty="0"/>
        </a:p>
      </dgm:t>
    </dgm:pt>
    <dgm:pt modelId="{81B7EB9D-C5E3-4606-AE51-F65815F6BDEA}" type="parTrans" cxnId="{20DADA4F-B723-4AF7-82B4-6E0C550AE804}">
      <dgm:prSet/>
      <dgm:spPr/>
      <dgm:t>
        <a:bodyPr/>
        <a:lstStyle/>
        <a:p>
          <a:endParaRPr lang="en-IN"/>
        </a:p>
      </dgm:t>
    </dgm:pt>
    <dgm:pt modelId="{8A789C9F-A3A9-4829-906C-A666E780695E}" type="sibTrans" cxnId="{20DADA4F-B723-4AF7-82B4-6E0C550AE804}">
      <dgm:prSet/>
      <dgm:spPr/>
      <dgm:t>
        <a:bodyPr/>
        <a:lstStyle/>
        <a:p>
          <a:endParaRPr lang="en-IN"/>
        </a:p>
      </dgm:t>
    </dgm:pt>
    <dgm:pt modelId="{E178D6BC-6C21-4313-B366-3A9FF1626CF8}">
      <dgm:prSet phldrT="[Text]"/>
      <dgm:spPr/>
      <dgm:t>
        <a:bodyPr/>
        <a:lstStyle/>
        <a:p>
          <a:pPr>
            <a:buNone/>
          </a:pPr>
          <a:r>
            <a:rPr lang="en-US" dirty="0"/>
            <a:t>. Integrating the RV32M multi-cycle sequential multiplier and divider increases  clock cycle time period</a:t>
          </a:r>
          <a:endParaRPr lang="en-IN" dirty="0"/>
        </a:p>
      </dgm:t>
    </dgm:pt>
    <dgm:pt modelId="{81ABD2EB-E249-48AC-B221-320172A128D5}" type="parTrans" cxnId="{DE01DF8B-D385-4F12-9E8D-6C26FB039858}">
      <dgm:prSet/>
      <dgm:spPr/>
      <dgm:t>
        <a:bodyPr/>
        <a:lstStyle/>
        <a:p>
          <a:endParaRPr lang="en-IN"/>
        </a:p>
      </dgm:t>
    </dgm:pt>
    <dgm:pt modelId="{4ACB3895-ADD1-4625-B7D8-0A87265E89CE}" type="sibTrans" cxnId="{DE01DF8B-D385-4F12-9E8D-6C26FB039858}">
      <dgm:prSet/>
      <dgm:spPr/>
      <dgm:t>
        <a:bodyPr/>
        <a:lstStyle/>
        <a:p>
          <a:endParaRPr lang="en-IN"/>
        </a:p>
      </dgm:t>
    </dgm:pt>
    <dgm:pt modelId="{0324E8FC-EE31-4680-8455-521227B46980}">
      <dgm:prSet phldrT="[Text]"/>
      <dgm:spPr/>
      <dgm:t>
        <a:bodyPr/>
        <a:lstStyle/>
        <a:p>
          <a:pPr>
            <a:buNone/>
          </a:pPr>
          <a:r>
            <a:rPr lang="en-US" dirty="0"/>
            <a:t>sub-cycle race conditions where the same data is accessed by multiple cores</a:t>
          </a:r>
          <a:endParaRPr lang="en-IN" dirty="0"/>
        </a:p>
      </dgm:t>
    </dgm:pt>
    <dgm:pt modelId="{1B1F969E-19FB-4C1E-8C06-AB24CA9F59E0}" type="parTrans" cxnId="{7F6B5AF3-7D48-4F65-B152-7E7344CD1654}">
      <dgm:prSet/>
      <dgm:spPr/>
      <dgm:t>
        <a:bodyPr/>
        <a:lstStyle/>
        <a:p>
          <a:endParaRPr lang="en-IN"/>
        </a:p>
      </dgm:t>
    </dgm:pt>
    <dgm:pt modelId="{E52D47EA-3E39-4A60-A162-89CC5DFE3F59}" type="sibTrans" cxnId="{7F6B5AF3-7D48-4F65-B152-7E7344CD1654}">
      <dgm:prSet/>
      <dgm:spPr/>
      <dgm:t>
        <a:bodyPr/>
        <a:lstStyle/>
        <a:p>
          <a:endParaRPr lang="en-IN"/>
        </a:p>
      </dgm:t>
    </dgm:pt>
    <dgm:pt modelId="{9A9FD976-2F76-4336-BA30-030AF147DED7}" type="pres">
      <dgm:prSet presAssocID="{B0AA2D9C-439A-4DD8-981B-A465C56060A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5F27FB8-AF27-4595-AA91-5FA8AAD31158}" type="pres">
      <dgm:prSet presAssocID="{C4CAD973-C1B3-4196-BF7B-18E4D07188A0}" presName="centerShape" presStyleLbl="node0" presStyleIdx="0" presStyleCnt="1"/>
      <dgm:spPr/>
    </dgm:pt>
    <dgm:pt modelId="{03167718-27B9-43AF-9004-09690BB8026D}" type="pres">
      <dgm:prSet presAssocID="{3BF9A1FD-C4B4-46B6-AD82-4CA94E628C2C}" presName="parTrans" presStyleLbl="sibTrans2D1" presStyleIdx="0" presStyleCnt="4"/>
      <dgm:spPr/>
    </dgm:pt>
    <dgm:pt modelId="{74A26982-CA03-423A-978A-E22B37E2E2C5}" type="pres">
      <dgm:prSet presAssocID="{3BF9A1FD-C4B4-46B6-AD82-4CA94E628C2C}" presName="connectorText" presStyleLbl="sibTrans2D1" presStyleIdx="0" presStyleCnt="4"/>
      <dgm:spPr/>
    </dgm:pt>
    <dgm:pt modelId="{A5591DD1-CD23-4D1D-9BC0-CF74AB770237}" type="pres">
      <dgm:prSet presAssocID="{EFA19DA4-0D9C-4E87-9C60-D9BFE55A1D14}" presName="node" presStyleLbl="node1" presStyleIdx="0" presStyleCnt="4">
        <dgm:presLayoutVars>
          <dgm:bulletEnabled val="1"/>
        </dgm:presLayoutVars>
      </dgm:prSet>
      <dgm:spPr/>
    </dgm:pt>
    <dgm:pt modelId="{9E246970-A668-4403-8945-FFDD02BE6BA7}" type="pres">
      <dgm:prSet presAssocID="{81B7EB9D-C5E3-4606-AE51-F65815F6BDEA}" presName="parTrans" presStyleLbl="sibTrans2D1" presStyleIdx="1" presStyleCnt="4"/>
      <dgm:spPr/>
    </dgm:pt>
    <dgm:pt modelId="{0ABA0775-D630-4B05-8F6D-BCE9052EADAC}" type="pres">
      <dgm:prSet presAssocID="{81B7EB9D-C5E3-4606-AE51-F65815F6BDEA}" presName="connectorText" presStyleLbl="sibTrans2D1" presStyleIdx="1" presStyleCnt="4"/>
      <dgm:spPr/>
    </dgm:pt>
    <dgm:pt modelId="{45907424-1334-4E21-BE16-024E2D9CE098}" type="pres">
      <dgm:prSet presAssocID="{871BC42D-5D74-49C7-920C-94171FB789F1}" presName="node" presStyleLbl="node1" presStyleIdx="1" presStyleCnt="4">
        <dgm:presLayoutVars>
          <dgm:bulletEnabled val="1"/>
        </dgm:presLayoutVars>
      </dgm:prSet>
      <dgm:spPr/>
    </dgm:pt>
    <dgm:pt modelId="{CF81251A-3BF2-41EA-BE8F-0D7B7BF61097}" type="pres">
      <dgm:prSet presAssocID="{81ABD2EB-E249-48AC-B221-320172A128D5}" presName="parTrans" presStyleLbl="sibTrans2D1" presStyleIdx="2" presStyleCnt="4"/>
      <dgm:spPr/>
    </dgm:pt>
    <dgm:pt modelId="{2E8D9F46-9465-4B5B-9AFF-E375BDA2337C}" type="pres">
      <dgm:prSet presAssocID="{81ABD2EB-E249-48AC-B221-320172A128D5}" presName="connectorText" presStyleLbl="sibTrans2D1" presStyleIdx="2" presStyleCnt="4"/>
      <dgm:spPr/>
    </dgm:pt>
    <dgm:pt modelId="{5F9C3CF4-281F-4097-AA27-044A477C5EE1}" type="pres">
      <dgm:prSet presAssocID="{E178D6BC-6C21-4313-B366-3A9FF1626CF8}" presName="node" presStyleLbl="node1" presStyleIdx="2" presStyleCnt="4">
        <dgm:presLayoutVars>
          <dgm:bulletEnabled val="1"/>
        </dgm:presLayoutVars>
      </dgm:prSet>
      <dgm:spPr/>
    </dgm:pt>
    <dgm:pt modelId="{48715D98-308B-4A00-8334-85AF0F5DC4D2}" type="pres">
      <dgm:prSet presAssocID="{1B1F969E-19FB-4C1E-8C06-AB24CA9F59E0}" presName="parTrans" presStyleLbl="sibTrans2D1" presStyleIdx="3" presStyleCnt="4"/>
      <dgm:spPr/>
    </dgm:pt>
    <dgm:pt modelId="{0AA1095D-9D99-46C9-AF94-4FB299D20F01}" type="pres">
      <dgm:prSet presAssocID="{1B1F969E-19FB-4C1E-8C06-AB24CA9F59E0}" presName="connectorText" presStyleLbl="sibTrans2D1" presStyleIdx="3" presStyleCnt="4"/>
      <dgm:spPr/>
    </dgm:pt>
    <dgm:pt modelId="{0FD66270-6036-4B6A-AA8C-EF02CF023CE8}" type="pres">
      <dgm:prSet presAssocID="{0324E8FC-EE31-4680-8455-521227B46980}" presName="node" presStyleLbl="node1" presStyleIdx="3" presStyleCnt="4">
        <dgm:presLayoutVars>
          <dgm:bulletEnabled val="1"/>
        </dgm:presLayoutVars>
      </dgm:prSet>
      <dgm:spPr/>
    </dgm:pt>
  </dgm:ptLst>
  <dgm:cxnLst>
    <dgm:cxn modelId="{AEEDF614-83CC-4C8A-8454-17E59E9A44F6}" type="presOf" srcId="{81B7EB9D-C5E3-4606-AE51-F65815F6BDEA}" destId="{9E246970-A668-4403-8945-FFDD02BE6BA7}" srcOrd="0" destOrd="0" presId="urn:microsoft.com/office/officeart/2005/8/layout/radial5"/>
    <dgm:cxn modelId="{F9B0D61D-6745-4F63-8CC3-F477F9A7341B}" type="presOf" srcId="{0324E8FC-EE31-4680-8455-521227B46980}" destId="{0FD66270-6036-4B6A-AA8C-EF02CF023CE8}" srcOrd="0" destOrd="0" presId="urn:microsoft.com/office/officeart/2005/8/layout/radial5"/>
    <dgm:cxn modelId="{D24BB82B-16FE-46B3-B29C-A5F30C41A741}" type="presOf" srcId="{EFA19DA4-0D9C-4E87-9C60-D9BFE55A1D14}" destId="{A5591DD1-CD23-4D1D-9BC0-CF74AB770237}" srcOrd="0" destOrd="0" presId="urn:microsoft.com/office/officeart/2005/8/layout/radial5"/>
    <dgm:cxn modelId="{50743333-E7F2-4CA0-8A6B-9A6773146592}" srcId="{B0AA2D9C-439A-4DD8-981B-A465C56060AA}" destId="{C4CAD973-C1B3-4196-BF7B-18E4D07188A0}" srcOrd="0" destOrd="0" parTransId="{1AB6B350-1D07-4D56-8B65-6F22B07C714B}" sibTransId="{E678EF7F-9B52-4A41-B435-82F8EE8DDE41}"/>
    <dgm:cxn modelId="{6CE83F40-7C2C-457A-8EBE-D52A88FE501A}" type="presOf" srcId="{B0AA2D9C-439A-4DD8-981B-A465C56060AA}" destId="{9A9FD976-2F76-4336-BA30-030AF147DED7}" srcOrd="0" destOrd="0" presId="urn:microsoft.com/office/officeart/2005/8/layout/radial5"/>
    <dgm:cxn modelId="{204B0E5E-3A46-4A4C-9E90-06BAF9B22BDD}" srcId="{C4CAD973-C1B3-4196-BF7B-18E4D07188A0}" destId="{EFA19DA4-0D9C-4E87-9C60-D9BFE55A1D14}" srcOrd="0" destOrd="0" parTransId="{3BF9A1FD-C4B4-46B6-AD82-4CA94E628C2C}" sibTransId="{1B4C23B6-4609-4659-9F88-C5244499FDEF}"/>
    <dgm:cxn modelId="{5080FD4A-AB98-4705-997C-D31BD77F3757}" type="presOf" srcId="{81B7EB9D-C5E3-4606-AE51-F65815F6BDEA}" destId="{0ABA0775-D630-4B05-8F6D-BCE9052EADAC}" srcOrd="1" destOrd="0" presId="urn:microsoft.com/office/officeart/2005/8/layout/radial5"/>
    <dgm:cxn modelId="{20DADA4F-B723-4AF7-82B4-6E0C550AE804}" srcId="{C4CAD973-C1B3-4196-BF7B-18E4D07188A0}" destId="{871BC42D-5D74-49C7-920C-94171FB789F1}" srcOrd="1" destOrd="0" parTransId="{81B7EB9D-C5E3-4606-AE51-F65815F6BDEA}" sibTransId="{8A789C9F-A3A9-4829-906C-A666E780695E}"/>
    <dgm:cxn modelId="{DE01DF8B-D385-4F12-9E8D-6C26FB039858}" srcId="{C4CAD973-C1B3-4196-BF7B-18E4D07188A0}" destId="{E178D6BC-6C21-4313-B366-3A9FF1626CF8}" srcOrd="2" destOrd="0" parTransId="{81ABD2EB-E249-48AC-B221-320172A128D5}" sibTransId="{4ACB3895-ADD1-4625-B7D8-0A87265E89CE}"/>
    <dgm:cxn modelId="{C3E80193-EAFE-4724-BF87-A649A68AE610}" type="presOf" srcId="{871BC42D-5D74-49C7-920C-94171FB789F1}" destId="{45907424-1334-4E21-BE16-024E2D9CE098}" srcOrd="0" destOrd="0" presId="urn:microsoft.com/office/officeart/2005/8/layout/radial5"/>
    <dgm:cxn modelId="{86636DA3-FD26-4DD5-8EED-3FD1CBB960DC}" type="presOf" srcId="{81ABD2EB-E249-48AC-B221-320172A128D5}" destId="{CF81251A-3BF2-41EA-BE8F-0D7B7BF61097}" srcOrd="0" destOrd="0" presId="urn:microsoft.com/office/officeart/2005/8/layout/radial5"/>
    <dgm:cxn modelId="{D2494BAD-20A1-4389-AF41-2413CEC369E6}" type="presOf" srcId="{3BF9A1FD-C4B4-46B6-AD82-4CA94E628C2C}" destId="{74A26982-CA03-423A-978A-E22B37E2E2C5}" srcOrd="1" destOrd="0" presId="urn:microsoft.com/office/officeart/2005/8/layout/radial5"/>
    <dgm:cxn modelId="{FB904BBD-93A0-44F8-95F7-BD3B126C4482}" type="presOf" srcId="{1B1F969E-19FB-4C1E-8C06-AB24CA9F59E0}" destId="{48715D98-308B-4A00-8334-85AF0F5DC4D2}" srcOrd="0" destOrd="0" presId="urn:microsoft.com/office/officeart/2005/8/layout/radial5"/>
    <dgm:cxn modelId="{D4E717C7-E916-4B10-BDA2-520BCB6764F7}" type="presOf" srcId="{3BF9A1FD-C4B4-46B6-AD82-4CA94E628C2C}" destId="{03167718-27B9-43AF-9004-09690BB8026D}" srcOrd="0" destOrd="0" presId="urn:microsoft.com/office/officeart/2005/8/layout/radial5"/>
    <dgm:cxn modelId="{FC6237C7-F847-43E1-A592-76E28EF6C611}" type="presOf" srcId="{C4CAD973-C1B3-4196-BF7B-18E4D07188A0}" destId="{D5F27FB8-AF27-4595-AA91-5FA8AAD31158}" srcOrd="0" destOrd="0" presId="urn:microsoft.com/office/officeart/2005/8/layout/radial5"/>
    <dgm:cxn modelId="{19475FE7-E698-40B5-BBE5-F67C72620DDC}" type="presOf" srcId="{1B1F969E-19FB-4C1E-8C06-AB24CA9F59E0}" destId="{0AA1095D-9D99-46C9-AF94-4FB299D20F01}" srcOrd="1" destOrd="0" presId="urn:microsoft.com/office/officeart/2005/8/layout/radial5"/>
    <dgm:cxn modelId="{6FE4FEF1-F241-433C-9D8A-1D0480A32799}" type="presOf" srcId="{E178D6BC-6C21-4313-B366-3A9FF1626CF8}" destId="{5F9C3CF4-281F-4097-AA27-044A477C5EE1}" srcOrd="0" destOrd="0" presId="urn:microsoft.com/office/officeart/2005/8/layout/radial5"/>
    <dgm:cxn modelId="{7F6B5AF3-7D48-4F65-B152-7E7344CD1654}" srcId="{C4CAD973-C1B3-4196-BF7B-18E4D07188A0}" destId="{0324E8FC-EE31-4680-8455-521227B46980}" srcOrd="3" destOrd="0" parTransId="{1B1F969E-19FB-4C1E-8C06-AB24CA9F59E0}" sibTransId="{E52D47EA-3E39-4A60-A162-89CC5DFE3F59}"/>
    <dgm:cxn modelId="{BCF820F6-455F-48C7-A861-6BE65E3B4263}" type="presOf" srcId="{81ABD2EB-E249-48AC-B221-320172A128D5}" destId="{2E8D9F46-9465-4B5B-9AFF-E375BDA2337C}" srcOrd="1" destOrd="0" presId="urn:microsoft.com/office/officeart/2005/8/layout/radial5"/>
    <dgm:cxn modelId="{6EA5DF85-E564-405E-ABA7-3C2DB36C8642}" type="presParOf" srcId="{9A9FD976-2F76-4336-BA30-030AF147DED7}" destId="{D5F27FB8-AF27-4595-AA91-5FA8AAD31158}" srcOrd="0" destOrd="0" presId="urn:microsoft.com/office/officeart/2005/8/layout/radial5"/>
    <dgm:cxn modelId="{A3840BF2-4D7D-4301-845F-3D2E3EF18F67}" type="presParOf" srcId="{9A9FD976-2F76-4336-BA30-030AF147DED7}" destId="{03167718-27B9-43AF-9004-09690BB8026D}" srcOrd="1" destOrd="0" presId="urn:microsoft.com/office/officeart/2005/8/layout/radial5"/>
    <dgm:cxn modelId="{B8C9156F-9D6F-4A3A-85C3-26ACBD511EB5}" type="presParOf" srcId="{03167718-27B9-43AF-9004-09690BB8026D}" destId="{74A26982-CA03-423A-978A-E22B37E2E2C5}" srcOrd="0" destOrd="0" presId="urn:microsoft.com/office/officeart/2005/8/layout/radial5"/>
    <dgm:cxn modelId="{646F8E05-150E-4C8D-99C8-E197F5973E56}" type="presParOf" srcId="{9A9FD976-2F76-4336-BA30-030AF147DED7}" destId="{A5591DD1-CD23-4D1D-9BC0-CF74AB770237}" srcOrd="2" destOrd="0" presId="urn:microsoft.com/office/officeart/2005/8/layout/radial5"/>
    <dgm:cxn modelId="{11315EA7-EF7F-407F-B616-6EE9FB2E3A8D}" type="presParOf" srcId="{9A9FD976-2F76-4336-BA30-030AF147DED7}" destId="{9E246970-A668-4403-8945-FFDD02BE6BA7}" srcOrd="3" destOrd="0" presId="urn:microsoft.com/office/officeart/2005/8/layout/radial5"/>
    <dgm:cxn modelId="{E37A4DEF-4A6D-477C-B15F-F072F3E22914}" type="presParOf" srcId="{9E246970-A668-4403-8945-FFDD02BE6BA7}" destId="{0ABA0775-D630-4B05-8F6D-BCE9052EADAC}" srcOrd="0" destOrd="0" presId="urn:microsoft.com/office/officeart/2005/8/layout/radial5"/>
    <dgm:cxn modelId="{56DCE2F1-BA35-4652-898C-D14325B3FAFD}" type="presParOf" srcId="{9A9FD976-2F76-4336-BA30-030AF147DED7}" destId="{45907424-1334-4E21-BE16-024E2D9CE098}" srcOrd="4" destOrd="0" presId="urn:microsoft.com/office/officeart/2005/8/layout/radial5"/>
    <dgm:cxn modelId="{E30BB4D7-B822-4D15-A0C4-BC6BC2B5F22D}" type="presParOf" srcId="{9A9FD976-2F76-4336-BA30-030AF147DED7}" destId="{CF81251A-3BF2-41EA-BE8F-0D7B7BF61097}" srcOrd="5" destOrd="0" presId="urn:microsoft.com/office/officeart/2005/8/layout/radial5"/>
    <dgm:cxn modelId="{A389EE4C-97E4-49A4-B3F7-207B0E92A827}" type="presParOf" srcId="{CF81251A-3BF2-41EA-BE8F-0D7B7BF61097}" destId="{2E8D9F46-9465-4B5B-9AFF-E375BDA2337C}" srcOrd="0" destOrd="0" presId="urn:microsoft.com/office/officeart/2005/8/layout/radial5"/>
    <dgm:cxn modelId="{42B09198-0063-4DC5-9DB2-709559CFB162}" type="presParOf" srcId="{9A9FD976-2F76-4336-BA30-030AF147DED7}" destId="{5F9C3CF4-281F-4097-AA27-044A477C5EE1}" srcOrd="6" destOrd="0" presId="urn:microsoft.com/office/officeart/2005/8/layout/radial5"/>
    <dgm:cxn modelId="{DFF10899-13BB-45B9-A75E-A823C943E5ED}" type="presParOf" srcId="{9A9FD976-2F76-4336-BA30-030AF147DED7}" destId="{48715D98-308B-4A00-8334-85AF0F5DC4D2}" srcOrd="7" destOrd="0" presId="urn:microsoft.com/office/officeart/2005/8/layout/radial5"/>
    <dgm:cxn modelId="{564BCFC8-390A-4AAD-97B6-A5F51147F956}" type="presParOf" srcId="{48715D98-308B-4A00-8334-85AF0F5DC4D2}" destId="{0AA1095D-9D99-46C9-AF94-4FB299D20F01}" srcOrd="0" destOrd="0" presId="urn:microsoft.com/office/officeart/2005/8/layout/radial5"/>
    <dgm:cxn modelId="{CD31525E-1FB8-4DC8-B1FE-6B08CA5E447B}" type="presParOf" srcId="{9A9FD976-2F76-4336-BA30-030AF147DED7}" destId="{0FD66270-6036-4B6A-AA8C-EF02CF023CE8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C7A74-9FF8-401F-846E-FCF3D740C9A3}">
      <dsp:nvSpPr>
        <dsp:cNvPr id="0" name=""/>
        <dsp:cNvSpPr/>
      </dsp:nvSpPr>
      <dsp:spPr>
        <a:xfrm>
          <a:off x="2380" y="263833"/>
          <a:ext cx="2321162" cy="460800"/>
        </a:xfrm>
        <a:prstGeom prst="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Commitment</a:t>
          </a:r>
          <a:endParaRPr lang="en-IN" sz="1600" kern="1200" dirty="0"/>
        </a:p>
      </dsp:txBody>
      <dsp:txXfrm>
        <a:off x="2380" y="263833"/>
        <a:ext cx="2321162" cy="460800"/>
      </dsp:txXfrm>
    </dsp:sp>
    <dsp:sp modelId="{1FFB07D1-2469-4FB3-BFCE-935FE53EC065}">
      <dsp:nvSpPr>
        <dsp:cNvPr id="0" name=""/>
        <dsp:cNvSpPr/>
      </dsp:nvSpPr>
      <dsp:spPr>
        <a:xfrm>
          <a:off x="2380" y="724633"/>
          <a:ext cx="2321162" cy="25034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 Convert the existing 3-stage pipeline into a 5-stage pipeline with support for RV32M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 multi-core processor supporting RV32A ISA (atomic operations) enabling functioning of multi-threaded algorithms.</a:t>
          </a:r>
          <a:endParaRPr lang="en-IN" sz="1600" kern="1200" dirty="0"/>
        </a:p>
      </dsp:txBody>
      <dsp:txXfrm>
        <a:off x="2380" y="724633"/>
        <a:ext cx="2321162" cy="2503440"/>
      </dsp:txXfrm>
    </dsp:sp>
    <dsp:sp modelId="{5D31593E-53E3-4D80-B7D9-963E768278E9}">
      <dsp:nvSpPr>
        <dsp:cNvPr id="0" name=""/>
        <dsp:cNvSpPr/>
      </dsp:nvSpPr>
      <dsp:spPr>
        <a:xfrm>
          <a:off x="2648505" y="263833"/>
          <a:ext cx="2321162" cy="460800"/>
        </a:xfrm>
        <a:prstGeom prst="rect">
          <a:avLst/>
        </a:prstGeom>
        <a:solidFill>
          <a:schemeClr val="accent6">
            <a:shade val="80000"/>
            <a:hueOff val="160640"/>
            <a:satOff val="-6455"/>
            <a:lumOff val="138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Goal System</a:t>
          </a:r>
          <a:endParaRPr lang="en-IN" sz="1600" kern="1200" dirty="0"/>
        </a:p>
      </dsp:txBody>
      <dsp:txXfrm>
        <a:off x="2648505" y="263833"/>
        <a:ext cx="2321162" cy="460800"/>
      </dsp:txXfrm>
    </dsp:sp>
    <dsp:sp modelId="{E8D68261-7DDD-470D-9C14-B00834271AC9}">
      <dsp:nvSpPr>
        <dsp:cNvPr id="0" name=""/>
        <dsp:cNvSpPr/>
      </dsp:nvSpPr>
      <dsp:spPr>
        <a:xfrm>
          <a:off x="2648505" y="724633"/>
          <a:ext cx="2321162" cy="25034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 Dynamic Branch Prediction: Integrate per-core branch target minimizing stalls during branching operations.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 Integrated L1 Cache Hierarchy: Incorporate dedicated L1 instruction and data caches for each core</a:t>
          </a:r>
          <a:endParaRPr lang="en-IN" sz="1600" kern="1200" dirty="0"/>
        </a:p>
      </dsp:txBody>
      <dsp:txXfrm>
        <a:off x="2648505" y="724633"/>
        <a:ext cx="2321162" cy="2503440"/>
      </dsp:txXfrm>
    </dsp:sp>
    <dsp:sp modelId="{C96E8422-1FCF-4BE4-8B15-A1BF990397AF}">
      <dsp:nvSpPr>
        <dsp:cNvPr id="0" name=""/>
        <dsp:cNvSpPr/>
      </dsp:nvSpPr>
      <dsp:spPr>
        <a:xfrm>
          <a:off x="5294630" y="263833"/>
          <a:ext cx="2321162" cy="460800"/>
        </a:xfrm>
        <a:prstGeom prst="rect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Stretch Goals</a:t>
          </a:r>
          <a:endParaRPr lang="en-IN" sz="1600" kern="1200" dirty="0"/>
        </a:p>
      </dsp:txBody>
      <dsp:txXfrm>
        <a:off x="5294630" y="263833"/>
        <a:ext cx="2321162" cy="460800"/>
      </dsp:txXfrm>
    </dsp:sp>
    <dsp:sp modelId="{A6AB3765-06B4-474E-92F2-56DE11DF0ABF}">
      <dsp:nvSpPr>
        <dsp:cNvPr id="0" name=""/>
        <dsp:cNvSpPr/>
      </dsp:nvSpPr>
      <dsp:spPr>
        <a:xfrm>
          <a:off x="5294630" y="724633"/>
          <a:ext cx="2321162" cy="250344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 </a:t>
          </a:r>
          <a:r>
            <a:rPr lang="en-IN" sz="1600" kern="1200" dirty="0"/>
            <a:t>Hardware Performance Monitoring: Implement the </a:t>
          </a:r>
          <a:r>
            <a:rPr lang="en-IN" sz="1600" kern="1200" dirty="0" err="1"/>
            <a:t>Zicsr</a:t>
          </a:r>
          <a:r>
            <a:rPr lang="en-IN" sz="1600" kern="1200" dirty="0"/>
            <a:t> extension, accessing the Control and Status Registers, to monitor critical hardware-level profiling metrics</a:t>
          </a:r>
        </a:p>
      </dsp:txBody>
      <dsp:txXfrm>
        <a:off x="5294630" y="724633"/>
        <a:ext cx="2321162" cy="25034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655E7-57CB-48E1-9913-527BAF6874D6}">
      <dsp:nvSpPr>
        <dsp:cNvPr id="0" name=""/>
        <dsp:cNvSpPr/>
      </dsp:nvSpPr>
      <dsp:spPr>
        <a:xfrm>
          <a:off x="824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Convert existing code to a 5-stage pipeline with RV32M. Test on simple assembly codes via a testbench.</a:t>
          </a:r>
          <a:endParaRPr lang="en-IN" sz="1500" kern="1200" dirty="0"/>
        </a:p>
      </dsp:txBody>
      <dsp:txXfrm>
        <a:off x="51561" y="1060400"/>
        <a:ext cx="2378177" cy="1392254"/>
      </dsp:txXfrm>
    </dsp:sp>
    <dsp:sp modelId="{3447FAB3-B162-4D0C-9585-B0C1FA2893EE}">
      <dsp:nvSpPr>
        <dsp:cNvPr id="0" name=""/>
        <dsp:cNvSpPr/>
      </dsp:nvSpPr>
      <dsp:spPr>
        <a:xfrm>
          <a:off x="2689956" y="1450891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689956" y="1573145"/>
        <a:ext cx="365777" cy="366764"/>
      </dsp:txXfrm>
    </dsp:sp>
    <dsp:sp modelId="{6F39DE1A-DDC3-430B-8BA3-276783CB7F04}">
      <dsp:nvSpPr>
        <dsp:cNvPr id="0" name=""/>
        <dsp:cNvSpPr/>
      </dsp:nvSpPr>
      <dsp:spPr>
        <a:xfrm>
          <a:off x="345897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677650"/>
                <a:satOff val="25000"/>
                <a:lumOff val="-36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77650"/>
                <a:satOff val="25000"/>
                <a:lumOff val="-36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77650"/>
                <a:satOff val="25000"/>
                <a:lumOff val="-36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Incorporate Branch Prediction(BTB) and L1 data and instruction caches. Test functioning via a testbench as well as run bitstream on FPGA.</a:t>
          </a:r>
          <a:endParaRPr lang="en-IN" sz="1500" kern="1200" dirty="0"/>
        </a:p>
      </dsp:txBody>
      <dsp:txXfrm>
        <a:off x="3502291" y="1060400"/>
        <a:ext cx="2378177" cy="1392254"/>
      </dsp:txXfrm>
    </dsp:sp>
    <dsp:sp modelId="{98EB3648-4A68-427A-911D-267D4FB6EB6E}">
      <dsp:nvSpPr>
        <dsp:cNvPr id="0" name=""/>
        <dsp:cNvSpPr/>
      </dsp:nvSpPr>
      <dsp:spPr>
        <a:xfrm>
          <a:off x="6140686" y="1450891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140686" y="1573145"/>
        <a:ext cx="365777" cy="366764"/>
      </dsp:txXfrm>
    </dsp:sp>
    <dsp:sp modelId="{04E5537F-5246-4336-8BF2-80FBBF5DEB43}">
      <dsp:nvSpPr>
        <dsp:cNvPr id="0" name=""/>
        <dsp:cNvSpPr/>
      </dsp:nvSpPr>
      <dsp:spPr>
        <a:xfrm>
          <a:off x="690970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Incorporate atomic operations (RV32A) within the pipeline ensuring proper data locking. Test functioning via testbench</a:t>
          </a:r>
          <a:endParaRPr lang="en-IN" sz="1500" kern="1200" dirty="0"/>
        </a:p>
      </dsp:txBody>
      <dsp:txXfrm>
        <a:off x="6953021" y="1060400"/>
        <a:ext cx="2378177" cy="1392254"/>
      </dsp:txXfrm>
    </dsp:sp>
    <dsp:sp modelId="{FB03EB38-5E9C-4A97-9B1E-3D43EB5B017F}">
      <dsp:nvSpPr>
        <dsp:cNvPr id="0" name=""/>
        <dsp:cNvSpPr/>
      </dsp:nvSpPr>
      <dsp:spPr>
        <a:xfrm rot="5400000">
          <a:off x="7880840" y="2668506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7958728" y="2712872"/>
        <a:ext cx="366764" cy="365777"/>
      </dsp:txXfrm>
    </dsp:sp>
    <dsp:sp modelId="{4DABA429-1F09-4CAE-9436-A2D615EDA371}">
      <dsp:nvSpPr>
        <dsp:cNvPr id="0" name=""/>
        <dsp:cNvSpPr/>
      </dsp:nvSpPr>
      <dsp:spPr>
        <a:xfrm>
          <a:off x="6909706" y="3481892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032949"/>
                <a:satOff val="75000"/>
                <a:lumOff val="-110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32949"/>
                <a:satOff val="75000"/>
                <a:lumOff val="-110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32949"/>
                <a:satOff val="75000"/>
                <a:lumOff val="-110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Instantiate two processor modules (dual-core) and handle common resource sharing via a separate bus arbiter. Testing via a testbench</a:t>
          </a:r>
          <a:endParaRPr lang="en-IN" sz="1500" kern="1200" dirty="0"/>
        </a:p>
      </dsp:txBody>
      <dsp:txXfrm>
        <a:off x="6953021" y="3525207"/>
        <a:ext cx="2378177" cy="1392254"/>
      </dsp:txXfrm>
    </dsp:sp>
    <dsp:sp modelId="{D874E39A-FECB-4359-912C-35B3C07A8608}">
      <dsp:nvSpPr>
        <dsp:cNvPr id="0" name=""/>
        <dsp:cNvSpPr/>
      </dsp:nvSpPr>
      <dsp:spPr>
        <a:xfrm rot="10800000">
          <a:off x="6170264" y="3915698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6327026" y="4037952"/>
        <a:ext cx="365777" cy="366764"/>
      </dsp:txXfrm>
    </dsp:sp>
    <dsp:sp modelId="{FCFA768F-BDD0-463E-B190-8D047779D215}">
      <dsp:nvSpPr>
        <dsp:cNvPr id="0" name=""/>
        <dsp:cNvSpPr/>
      </dsp:nvSpPr>
      <dsp:spPr>
        <a:xfrm>
          <a:off x="3458976" y="3481892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Generate bitstream and final project demo on FPGA. May need to manage utilized resources like LUTs.</a:t>
          </a:r>
          <a:endParaRPr lang="en-IN" sz="1500" kern="1200" dirty="0"/>
        </a:p>
      </dsp:txBody>
      <dsp:txXfrm>
        <a:off x="3502291" y="3525207"/>
        <a:ext cx="2378177" cy="13922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655E7-57CB-48E1-9913-527BAF6874D6}">
      <dsp:nvSpPr>
        <dsp:cNvPr id="0" name=""/>
        <dsp:cNvSpPr/>
      </dsp:nvSpPr>
      <dsp:spPr>
        <a:xfrm>
          <a:off x="824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Convert existing code to a 5-stage pipeline with RV32M. Test on simple assembly codes via a testbench.</a:t>
          </a:r>
          <a:endParaRPr lang="en-IN" sz="1500" kern="1200" dirty="0"/>
        </a:p>
      </dsp:txBody>
      <dsp:txXfrm>
        <a:off x="51561" y="1060400"/>
        <a:ext cx="2378177" cy="1392254"/>
      </dsp:txXfrm>
    </dsp:sp>
    <dsp:sp modelId="{3447FAB3-B162-4D0C-9585-B0C1FA2893EE}">
      <dsp:nvSpPr>
        <dsp:cNvPr id="0" name=""/>
        <dsp:cNvSpPr/>
      </dsp:nvSpPr>
      <dsp:spPr>
        <a:xfrm>
          <a:off x="2689956" y="1450891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689956" y="1573145"/>
        <a:ext cx="365777" cy="366764"/>
      </dsp:txXfrm>
    </dsp:sp>
    <dsp:sp modelId="{6F39DE1A-DDC3-430B-8BA3-276783CB7F04}">
      <dsp:nvSpPr>
        <dsp:cNvPr id="0" name=""/>
        <dsp:cNvSpPr/>
      </dsp:nvSpPr>
      <dsp:spPr>
        <a:xfrm>
          <a:off x="345897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677650"/>
                <a:satOff val="25000"/>
                <a:lumOff val="-367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677650"/>
                <a:satOff val="25000"/>
                <a:lumOff val="-367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677650"/>
                <a:satOff val="25000"/>
                <a:lumOff val="-367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Incorporate Branch Prediction(BTB) and L1 data and instruction caches. Test functioning via a testbench as well as run bitstream on FPGA.</a:t>
          </a:r>
          <a:endParaRPr lang="en-IN" sz="1500" kern="1200" dirty="0"/>
        </a:p>
      </dsp:txBody>
      <dsp:txXfrm>
        <a:off x="3502291" y="1060400"/>
        <a:ext cx="2378177" cy="1392254"/>
      </dsp:txXfrm>
    </dsp:sp>
    <dsp:sp modelId="{98EB3648-4A68-427A-911D-267D4FB6EB6E}">
      <dsp:nvSpPr>
        <dsp:cNvPr id="0" name=""/>
        <dsp:cNvSpPr/>
      </dsp:nvSpPr>
      <dsp:spPr>
        <a:xfrm>
          <a:off x="6140686" y="1450891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140686" y="1573145"/>
        <a:ext cx="365777" cy="366764"/>
      </dsp:txXfrm>
    </dsp:sp>
    <dsp:sp modelId="{04E5537F-5246-4336-8BF2-80FBBF5DEB43}">
      <dsp:nvSpPr>
        <dsp:cNvPr id="0" name=""/>
        <dsp:cNvSpPr/>
      </dsp:nvSpPr>
      <dsp:spPr>
        <a:xfrm>
          <a:off x="6909706" y="1017085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Incorporate atomic operations (RV32A) within the pipeline ensuring proper data locking. Test functioning via testbench</a:t>
          </a:r>
          <a:endParaRPr lang="en-IN" sz="1500" kern="1200" dirty="0"/>
        </a:p>
      </dsp:txBody>
      <dsp:txXfrm>
        <a:off x="6953021" y="1060400"/>
        <a:ext cx="2378177" cy="1392254"/>
      </dsp:txXfrm>
    </dsp:sp>
    <dsp:sp modelId="{FB03EB38-5E9C-4A97-9B1E-3D43EB5B017F}">
      <dsp:nvSpPr>
        <dsp:cNvPr id="0" name=""/>
        <dsp:cNvSpPr/>
      </dsp:nvSpPr>
      <dsp:spPr>
        <a:xfrm rot="5400000">
          <a:off x="7880840" y="2668506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-5400000">
        <a:off x="7958728" y="2712872"/>
        <a:ext cx="366764" cy="365777"/>
      </dsp:txXfrm>
    </dsp:sp>
    <dsp:sp modelId="{4DABA429-1F09-4CAE-9436-A2D615EDA371}">
      <dsp:nvSpPr>
        <dsp:cNvPr id="0" name=""/>
        <dsp:cNvSpPr/>
      </dsp:nvSpPr>
      <dsp:spPr>
        <a:xfrm>
          <a:off x="6909706" y="3481892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032949"/>
                <a:satOff val="75000"/>
                <a:lumOff val="-110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32949"/>
                <a:satOff val="75000"/>
                <a:lumOff val="-110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32949"/>
                <a:satOff val="75000"/>
                <a:lumOff val="-110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Instantiate two processor modules (dual-core) and handle common resource sharing via a separate bus arbiter. Testing via a testbench</a:t>
          </a:r>
          <a:endParaRPr lang="en-IN" sz="1500" kern="1200" dirty="0"/>
        </a:p>
      </dsp:txBody>
      <dsp:txXfrm>
        <a:off x="6953021" y="3525207"/>
        <a:ext cx="2378177" cy="1392254"/>
      </dsp:txXfrm>
    </dsp:sp>
    <dsp:sp modelId="{D874E39A-FECB-4359-912C-35B3C07A8608}">
      <dsp:nvSpPr>
        <dsp:cNvPr id="0" name=""/>
        <dsp:cNvSpPr/>
      </dsp:nvSpPr>
      <dsp:spPr>
        <a:xfrm rot="10800000">
          <a:off x="6170264" y="3915698"/>
          <a:ext cx="522539" cy="6112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 rot="10800000">
        <a:off x="6327026" y="4037952"/>
        <a:ext cx="365777" cy="366764"/>
      </dsp:txXfrm>
    </dsp:sp>
    <dsp:sp modelId="{FCFA768F-BDD0-463E-B190-8D047779D215}">
      <dsp:nvSpPr>
        <dsp:cNvPr id="0" name=""/>
        <dsp:cNvSpPr/>
      </dsp:nvSpPr>
      <dsp:spPr>
        <a:xfrm>
          <a:off x="3458976" y="3481892"/>
          <a:ext cx="2464807" cy="14788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Generate bitstream and final project demo on FPGA. May need to manage utilized resources like LUTs.</a:t>
          </a:r>
          <a:endParaRPr lang="en-IN" sz="1500" kern="1200" dirty="0"/>
        </a:p>
      </dsp:txBody>
      <dsp:txXfrm>
        <a:off x="3502291" y="3525207"/>
        <a:ext cx="2378177" cy="13922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F27FB8-AF27-4595-AA91-5FA8AAD31158}">
      <dsp:nvSpPr>
        <dsp:cNvPr id="0" name=""/>
        <dsp:cNvSpPr/>
      </dsp:nvSpPr>
      <dsp:spPr>
        <a:xfrm>
          <a:off x="4622529" y="2142145"/>
          <a:ext cx="1528130" cy="15281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Challenges </a:t>
          </a:r>
          <a:endParaRPr lang="en-IN" sz="1800" kern="1200" dirty="0"/>
        </a:p>
      </dsp:txBody>
      <dsp:txXfrm>
        <a:off x="4846318" y="2365934"/>
        <a:ext cx="1080552" cy="1080552"/>
      </dsp:txXfrm>
    </dsp:sp>
    <dsp:sp modelId="{03167718-27B9-43AF-9004-09690BB8026D}">
      <dsp:nvSpPr>
        <dsp:cNvPr id="0" name=""/>
        <dsp:cNvSpPr/>
      </dsp:nvSpPr>
      <dsp:spPr>
        <a:xfrm rot="16200000">
          <a:off x="5225115" y="1586824"/>
          <a:ext cx="322959" cy="519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273559" y="1739181"/>
        <a:ext cx="226071" cy="311738"/>
      </dsp:txXfrm>
    </dsp:sp>
    <dsp:sp modelId="{A5591DD1-CD23-4D1D-9BC0-CF74AB770237}">
      <dsp:nvSpPr>
        <dsp:cNvPr id="0" name=""/>
        <dsp:cNvSpPr/>
      </dsp:nvSpPr>
      <dsp:spPr>
        <a:xfrm>
          <a:off x="4622529" y="4656"/>
          <a:ext cx="1528130" cy="15281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maintaining cache coherency across multiple cores during parallel execution</a:t>
          </a:r>
          <a:endParaRPr lang="en-IN" sz="1000" kern="1200" dirty="0"/>
        </a:p>
      </dsp:txBody>
      <dsp:txXfrm>
        <a:off x="4846318" y="228445"/>
        <a:ext cx="1080552" cy="1080552"/>
      </dsp:txXfrm>
    </dsp:sp>
    <dsp:sp modelId="{9E246970-A668-4403-8945-FFDD02BE6BA7}">
      <dsp:nvSpPr>
        <dsp:cNvPr id="0" name=""/>
        <dsp:cNvSpPr/>
      </dsp:nvSpPr>
      <dsp:spPr>
        <a:xfrm>
          <a:off x="6284719" y="2646428"/>
          <a:ext cx="322959" cy="519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6284719" y="2750341"/>
        <a:ext cx="226071" cy="311738"/>
      </dsp:txXfrm>
    </dsp:sp>
    <dsp:sp modelId="{45907424-1334-4E21-BE16-024E2D9CE098}">
      <dsp:nvSpPr>
        <dsp:cNvPr id="0" name=""/>
        <dsp:cNvSpPr/>
      </dsp:nvSpPr>
      <dsp:spPr>
        <a:xfrm>
          <a:off x="6760017" y="2142145"/>
          <a:ext cx="1528130" cy="15281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ensuring integrity of inter-core atomic locks</a:t>
          </a:r>
          <a:endParaRPr lang="en-IN" sz="1000" kern="1200" dirty="0"/>
        </a:p>
      </dsp:txBody>
      <dsp:txXfrm>
        <a:off x="6983806" y="2365934"/>
        <a:ext cx="1080552" cy="1080552"/>
      </dsp:txXfrm>
    </dsp:sp>
    <dsp:sp modelId="{CF81251A-3BF2-41EA-BE8F-0D7B7BF61097}">
      <dsp:nvSpPr>
        <dsp:cNvPr id="0" name=""/>
        <dsp:cNvSpPr/>
      </dsp:nvSpPr>
      <dsp:spPr>
        <a:xfrm rot="5400000">
          <a:off x="5225115" y="3706032"/>
          <a:ext cx="322959" cy="519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5273559" y="3761501"/>
        <a:ext cx="226071" cy="311738"/>
      </dsp:txXfrm>
    </dsp:sp>
    <dsp:sp modelId="{5F9C3CF4-281F-4097-AA27-044A477C5EE1}">
      <dsp:nvSpPr>
        <dsp:cNvPr id="0" name=""/>
        <dsp:cNvSpPr/>
      </dsp:nvSpPr>
      <dsp:spPr>
        <a:xfrm>
          <a:off x="4622529" y="4279633"/>
          <a:ext cx="1528130" cy="15281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. Integrating the RV32M multi-cycle sequential multiplier and divider increases  clock cycle time period</a:t>
          </a:r>
          <a:endParaRPr lang="en-IN" sz="1000" kern="1200" dirty="0"/>
        </a:p>
      </dsp:txBody>
      <dsp:txXfrm>
        <a:off x="4846318" y="4503422"/>
        <a:ext cx="1080552" cy="1080552"/>
      </dsp:txXfrm>
    </dsp:sp>
    <dsp:sp modelId="{48715D98-308B-4A00-8334-85AF0F5DC4D2}">
      <dsp:nvSpPr>
        <dsp:cNvPr id="0" name=""/>
        <dsp:cNvSpPr/>
      </dsp:nvSpPr>
      <dsp:spPr>
        <a:xfrm rot="10800000">
          <a:off x="4165511" y="2646428"/>
          <a:ext cx="322959" cy="5195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10800000">
        <a:off x="4262399" y="2750341"/>
        <a:ext cx="226071" cy="311738"/>
      </dsp:txXfrm>
    </dsp:sp>
    <dsp:sp modelId="{0FD66270-6036-4B6A-AA8C-EF02CF023CE8}">
      <dsp:nvSpPr>
        <dsp:cNvPr id="0" name=""/>
        <dsp:cNvSpPr/>
      </dsp:nvSpPr>
      <dsp:spPr>
        <a:xfrm>
          <a:off x="2485041" y="2142145"/>
          <a:ext cx="1528130" cy="152813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sub-cycle race conditions where the same data is accessed by multiple cores</a:t>
          </a:r>
          <a:endParaRPr lang="en-IN" sz="1000" kern="1200" dirty="0"/>
        </a:p>
      </dsp:txBody>
      <dsp:txXfrm>
        <a:off x="2708830" y="2365934"/>
        <a:ext cx="1080552" cy="1080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344471-42F3-42F5-93B9-FCF43849F880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BC680-28B8-4F43-9406-B4365981E7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88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C680-28B8-4F43-9406-B4365981E73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22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5C96A-A77C-DEDA-6C1D-C165A7DE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DC9C25-EA53-1CB6-D1AC-8BBBD01BF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E33FED-BFBE-F708-FBA2-7A51EA26AB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0CB4F-C42C-6563-077B-FF8A30569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C680-28B8-4F43-9406-B4365981E7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741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4F956-FF2F-D1B9-AF2F-63AE7C6A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01699F-2A9F-995E-7B39-EDDC49FBF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C89EBB-7AA7-A059-77B1-46A723152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D41CB-D308-C4A7-A636-6E52EE823D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C680-28B8-4F43-9406-B4365981E73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3219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EF15-8CC0-6700-7267-B0F7F057D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DF5A12-2CCC-9AA5-90D5-5C4E06B63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9A3601-348F-7682-125C-E75FAF85D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34D96-581A-D546-2FC4-8B867F4CF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C680-28B8-4F43-9406-B4365981E73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14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6DCF0-3D6C-8A15-E5DE-F643B53D9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40DEB-253A-2C54-502E-B79816975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5D610-5559-B0F7-2C6C-8B5765B464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B1CD9-805F-7F33-DE68-68A5433E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BC680-28B8-4F43-9406-B4365981E73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6862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0782-89AB-50B9-F3FF-BD672642F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7B9C7-1103-9C2B-ECBF-F156FA4C5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8F764-CBD3-F704-B3B9-B68ADA195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B2684-3C0C-ED04-E5D1-E210E2F9B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C0804-D3DE-31C8-BE52-B64A7ABA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77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E274-B603-F1B0-C719-DEECD83E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7D9D-659E-DE7A-90A5-50F2F7F66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89C0C-0A88-1454-6715-CCD552C2B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A76C9-66D9-0FFE-FD55-F5C882C9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76289-B274-BFAE-68D0-1746899FC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9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B87F0-FED4-937B-67D6-58ED15B1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5153A-E133-B4B8-060B-3E6101DAE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8042D-20D9-02AB-80AC-A4D1705C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322CA-3656-15D1-E652-FBF81E8D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DA408-E515-88C3-C4A0-A2A4AE63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FC411-523F-99D8-FD52-322E54E6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2A54-78B1-76D2-CB57-06A33E182E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65C035-613A-896D-519F-DA5E959F1E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AD269-2D90-5C12-94B7-833BB6D89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14FE0-AADB-D85C-1114-27C21A1C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EDC23-E731-8A2F-0848-CE513E51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6213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1886-A198-4D9F-6D2E-EEF79FB73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1B0D0-14A8-22C7-20FB-6803CBA63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3B9302-60DD-BFBA-F02E-DBCB9DFC5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65C58-86B2-F511-A01D-D2E5EAF34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1A963-D5ED-032F-CA73-3915EFCD0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A9105A-1474-5C60-A005-FE900D15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D25D3F-A7AD-7772-2FED-24EF95B9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DF48E2-8650-4D28-FC70-317DA7B0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13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3818-C878-57E5-F047-4061599E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DCA40-FE04-B8C0-E33F-E273BF805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F70A3-7DA0-E3F8-C81F-D69BE618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05C303-A17F-B21C-59FC-23616F0A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537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017699-8ABD-8CDC-AD5A-5D50926C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3299C-AE6B-60AC-40BF-27422334D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68E78-F283-B2A5-324E-DF3B90C7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81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45E6E-561E-578B-4A57-33723359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3E14D-C84A-D56B-33A8-5D96234A0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ED52EB-4DE4-6370-859E-9E91C81A21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756A4-A65C-7A32-DD84-C561C552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26CFD3-1CAA-7D9B-6C96-A245C61E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2578B-AF15-1C2A-B802-936600EDD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06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E055-3C91-16BC-0D80-D9426E336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0FF652-1934-EEC3-9611-3FB5A40EC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C33CA4-5E29-C07C-8BF7-677AC51E8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B7C2D-21D3-1311-E4F9-AA7B8D481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303273-4C79-2399-5F78-0C3C05B5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4CECA-517C-08EC-E513-E7A89556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92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AE147-713C-6C58-CFCE-DE879223F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DACEB-8AD7-A9BE-DC4A-4DA378FFD7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3AA4B-5D3D-EE39-9B47-8E209BC6B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A2D16-C244-18C7-C5D3-079868FB6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7097D-D171-C76C-6411-AA031756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599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495486-1828-739F-C394-F77CD43707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9290E2-75E5-6538-C521-5D4244099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CD208-94E0-C121-9174-40512C11E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066D1-516A-1CF9-A9A2-3DDB98BE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6D5B5-CA58-BD9F-9923-285A7B31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65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5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62DDA-290B-4A71-72FF-AF192039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13593-8AC8-8D73-9B3F-FB8A7C29E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B88-1A2E-2000-6341-F98BE0684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14AC2-71A1-4608-8763-7AEEB362D99E}" type="datetimeFigureOut">
              <a:rPr lang="en-IN" smtClean="0"/>
              <a:t>06-04-2026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7DE43-326C-C566-3C30-184165202E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F26D8-2BF3-612B-BF0F-5F186B98E4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116DA-C6F0-4D0E-AA3F-B1093A076D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262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microsoft.com/office/2007/relationships/hdphoto" Target="../media/hdphoto1.wdp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7.png"/><Relationship Id="rId7" Type="http://schemas.openxmlformats.org/officeDocument/2006/relationships/diagramLayout" Target="../diagrams/layou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Data" Target="../diagrams/data2.xml"/><Relationship Id="rId5" Type="http://schemas.openxmlformats.org/officeDocument/2006/relationships/image" Target="../media/image1.png"/><Relationship Id="rId10" Type="http://schemas.microsoft.com/office/2007/relationships/diagramDrawing" Target="../diagrams/drawing2.xml"/><Relationship Id="rId4" Type="http://schemas.microsoft.com/office/2007/relationships/hdphoto" Target="../media/hdphoto2.wdp"/><Relationship Id="rId9" Type="http://schemas.openxmlformats.org/officeDocument/2006/relationships/diagramColors" Target="../diagrams/colors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microsoft.com/office/2007/relationships/hdphoto" Target="../media/hdphoto2.wdp"/><Relationship Id="rId4" Type="http://schemas.openxmlformats.org/officeDocument/2006/relationships/diagramLayout" Target="../diagrams/layout3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2B2E8C13-4459-F520-C837-E66092F1B875}"/>
              </a:ext>
            </a:extLst>
          </p:cNvPr>
          <p:cNvSpPr txBox="1"/>
          <p:nvPr/>
        </p:nvSpPr>
        <p:spPr>
          <a:xfrm>
            <a:off x="429776" y="1054756"/>
            <a:ext cx="64356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CS224 – Hardware Lab Project</a:t>
            </a:r>
          </a:p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Group 22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B8C99F-5F16-5C94-E6C2-C7670703BCB3}"/>
              </a:ext>
            </a:extLst>
          </p:cNvPr>
          <p:cNvSpPr txBox="1"/>
          <p:nvPr/>
        </p:nvSpPr>
        <p:spPr>
          <a:xfrm>
            <a:off x="1123407" y="3857897"/>
            <a:ext cx="40059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accent4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Shivansh,Sarvesh,Abhigyan,Manthan</a:t>
            </a:r>
            <a:endParaRPr lang="en-IN" sz="2400" dirty="0">
              <a:solidFill>
                <a:schemeClr val="accent4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8DA87F-9D4C-FF59-D771-3219B20BF8D8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9CE8767-1B97-D716-05F9-F98C855A23FD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73FE3A6-D2C0-41A2-2504-F4C22EE09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1FC3ECCD-8E13-9BED-6930-CB2C4462A672}"/>
              </a:ext>
            </a:extLst>
          </p:cNvPr>
          <p:cNvSpPr/>
          <p:nvPr/>
        </p:nvSpPr>
        <p:spPr>
          <a:xfrm rot="18937274">
            <a:off x="7100619" y="-677418"/>
            <a:ext cx="6432709" cy="6607856"/>
          </a:xfrm>
          <a:custGeom>
            <a:avLst/>
            <a:gdLst>
              <a:gd name="csX0" fmla="*/ 3658116 w 6372307"/>
              <a:gd name="csY0" fmla="*/ 5785322 h 6744098"/>
              <a:gd name="csX1" fmla="*/ 3658116 w 6372307"/>
              <a:gd name="csY1" fmla="*/ 6744098 h 6744098"/>
              <a:gd name="csX2" fmla="*/ 1082670 w 6372307"/>
              <a:gd name="csY2" fmla="*/ 6744098 h 6744098"/>
              <a:gd name="csX3" fmla="*/ 1082670 w 6372307"/>
              <a:gd name="csY3" fmla="*/ 4614809 h 6744098"/>
              <a:gd name="csX4" fmla="*/ 1833095 w 6372307"/>
              <a:gd name="csY4" fmla="*/ 4614809 h 6744098"/>
              <a:gd name="csX5" fmla="*/ 1833095 w 6372307"/>
              <a:gd name="csY5" fmla="*/ 5785322 h 6744098"/>
              <a:gd name="csX6" fmla="*/ 4100011 w 6372307"/>
              <a:gd name="csY6" fmla="*/ 4686668 h 6744098"/>
              <a:gd name="csX7" fmla="*/ 4151390 w 6372307"/>
              <a:gd name="csY7" fmla="*/ 4813120 h 6744098"/>
              <a:gd name="csX8" fmla="*/ 4150417 w 6372307"/>
              <a:gd name="csY8" fmla="*/ 5136586 h 6744098"/>
              <a:gd name="csX9" fmla="*/ 3600467 w 6372307"/>
              <a:gd name="csY9" fmla="*/ 5704661 h 6744098"/>
              <a:gd name="csX10" fmla="*/ 2216429 w 6372307"/>
              <a:gd name="csY10" fmla="*/ 5700743 h 6744098"/>
              <a:gd name="csX11" fmla="*/ 2040252 w 6372307"/>
              <a:gd name="csY11" fmla="*/ 5521620 h 6744098"/>
              <a:gd name="csX12" fmla="*/ 2042399 w 6372307"/>
              <a:gd name="csY12" fmla="*/ 4807149 h 6744098"/>
              <a:gd name="csX13" fmla="*/ 2219650 w 6372307"/>
              <a:gd name="csY13" fmla="*/ 4629026 h 6744098"/>
              <a:gd name="csX14" fmla="*/ 3975213 w 6372307"/>
              <a:gd name="csY14" fmla="*/ 4633997 h 6744098"/>
              <a:gd name="csX15" fmla="*/ 4100011 w 6372307"/>
              <a:gd name="csY15" fmla="*/ 4686668 h 6744098"/>
              <a:gd name="csX16" fmla="*/ 3204924 w 6372307"/>
              <a:gd name="csY16" fmla="*/ 3479095 h 6744098"/>
              <a:gd name="csX17" fmla="*/ 3256950 w 6372307"/>
              <a:gd name="csY17" fmla="*/ 3600495 h 6744098"/>
              <a:gd name="csX18" fmla="*/ 3267925 w 6372307"/>
              <a:gd name="csY18" fmla="*/ 4291885 h 6744098"/>
              <a:gd name="csX19" fmla="*/ 3099664 w 6372307"/>
              <a:gd name="csY19" fmla="*/ 4467552 h 6744098"/>
              <a:gd name="csX20" fmla="*/ 1319346 w 6372307"/>
              <a:gd name="csY20" fmla="*/ 4496850 h 6744098"/>
              <a:gd name="csX21" fmla="*/ 1145597 w 6372307"/>
              <a:gd name="csY21" fmla="*/ 4326811 h 6744098"/>
              <a:gd name="csX22" fmla="*/ 1134622 w 6372307"/>
              <a:gd name="csY22" fmla="*/ 3635423 h 6744098"/>
              <a:gd name="csX23" fmla="*/ 1302885 w 6372307"/>
              <a:gd name="csY23" fmla="*/ 3459756 h 6744098"/>
              <a:gd name="csX24" fmla="*/ 3083202 w 6372307"/>
              <a:gd name="csY24" fmla="*/ 3430458 h 6744098"/>
              <a:gd name="csX25" fmla="*/ 3204924 w 6372307"/>
              <a:gd name="csY25" fmla="*/ 3479095 h 6744098"/>
              <a:gd name="csX26" fmla="*/ 1973987 w 6372307"/>
              <a:gd name="csY26" fmla="*/ 1623956 h 6744098"/>
              <a:gd name="csX27" fmla="*/ 1955654 w 6372307"/>
              <a:gd name="csY27" fmla="*/ 3289650 h 6744098"/>
              <a:gd name="csX28" fmla="*/ 994482 w 6372307"/>
              <a:gd name="csY28" fmla="*/ 3279072 h 6744098"/>
              <a:gd name="csX29" fmla="*/ 976557 w 6372307"/>
              <a:gd name="csY29" fmla="*/ 4907581 h 6744098"/>
              <a:gd name="csX30" fmla="*/ 0 w 6372307"/>
              <a:gd name="csY30" fmla="*/ 4896833 h 6744098"/>
              <a:gd name="csX31" fmla="*/ 36257 w 6372307"/>
              <a:gd name="csY31" fmla="*/ 1602629 h 6744098"/>
              <a:gd name="csX32" fmla="*/ 5815349 w 6372307"/>
              <a:gd name="csY32" fmla="*/ 3416778 h 6744098"/>
              <a:gd name="csX33" fmla="*/ 4782112 w 6372307"/>
              <a:gd name="csY33" fmla="*/ 4484071 h 6744098"/>
              <a:gd name="csX34" fmla="*/ 3614816 w 6372307"/>
              <a:gd name="csY34" fmla="*/ 4446638 h 6744098"/>
              <a:gd name="csX35" fmla="*/ 3439345 w 6372307"/>
              <a:gd name="csY35" fmla="*/ 4257603 h 6744098"/>
              <a:gd name="csX36" fmla="*/ 3462520 w 6372307"/>
              <a:gd name="csY36" fmla="*/ 3524735 h 6744098"/>
              <a:gd name="csX37" fmla="*/ 3649576 w 6372307"/>
              <a:gd name="csY37" fmla="*/ 3347327 h 6744098"/>
              <a:gd name="csX38" fmla="*/ 2853213 w 6372307"/>
              <a:gd name="csY38" fmla="*/ 94170 h 6744098"/>
              <a:gd name="csX39" fmla="*/ 2920450 w 6372307"/>
              <a:gd name="csY39" fmla="*/ 263109 h 6744098"/>
              <a:gd name="csX40" fmla="*/ 2910792 w 6372307"/>
              <a:gd name="csY40" fmla="*/ 1214798 h 6744098"/>
              <a:gd name="csX41" fmla="*/ 2672993 w 6372307"/>
              <a:gd name="csY41" fmla="*/ 1450345 h 6744098"/>
              <a:gd name="csX42" fmla="*/ 423687 w 6372307"/>
              <a:gd name="csY42" fmla="*/ 1427560 h 6744098"/>
              <a:gd name="csX43" fmla="*/ 190717 w 6372307"/>
              <a:gd name="csY43" fmla="*/ 1187247 h 6744098"/>
              <a:gd name="csX44" fmla="*/ 200374 w 6372307"/>
              <a:gd name="csY44" fmla="*/ 235557 h 6744098"/>
              <a:gd name="csX45" fmla="*/ 438173 w 6372307"/>
              <a:gd name="csY45" fmla="*/ 12 h 6744098"/>
              <a:gd name="csX46" fmla="*/ 2687478 w 6372307"/>
              <a:gd name="csY46" fmla="*/ 22795 h 6744098"/>
              <a:gd name="csX47" fmla="*/ 2853213 w 6372307"/>
              <a:gd name="csY47" fmla="*/ 94170 h 6744098"/>
              <a:gd name="csX48" fmla="*/ 5154935 w 6372307"/>
              <a:gd name="csY48" fmla="*/ 1637340 h 6744098"/>
              <a:gd name="csX49" fmla="*/ 6372307 w 6372307"/>
              <a:gd name="csY49" fmla="*/ 2841464 h 6744098"/>
              <a:gd name="csX50" fmla="*/ 5988723 w 6372307"/>
              <a:gd name="csY50" fmla="*/ 3237690 h 6744098"/>
              <a:gd name="csX51" fmla="*/ 2364971 w 6372307"/>
              <a:gd name="csY51" fmla="*/ 3231820 h 6744098"/>
              <a:gd name="csX52" fmla="*/ 2101800 w 6372307"/>
              <a:gd name="csY52" fmla="*/ 2964887 h 6744098"/>
              <a:gd name="csX53" fmla="*/ 2103740 w 6372307"/>
              <a:gd name="csY53" fmla="*/ 1898902 h 6744098"/>
              <a:gd name="csX54" fmla="*/ 2367880 w 6372307"/>
              <a:gd name="csY54" fmla="*/ 1632825 h 6744098"/>
              <a:gd name="csX55" fmla="*/ 3775341 w 6372307"/>
              <a:gd name="csY55" fmla="*/ 272762 h 6744098"/>
              <a:gd name="csX56" fmla="*/ 4895626 w 6372307"/>
              <a:gd name="csY56" fmla="*/ 1380855 h 6744098"/>
              <a:gd name="csX57" fmla="*/ 3350576 w 6372307"/>
              <a:gd name="csY57" fmla="*/ 1426785 h 6744098"/>
              <a:gd name="csX58" fmla="*/ 3157047 w 6372307"/>
              <a:gd name="csY58" fmla="*/ 1242302 h 6744098"/>
              <a:gd name="csX59" fmla="*/ 3135105 w 6372307"/>
              <a:gd name="csY59" fmla="*/ 482032 h 6744098"/>
              <a:gd name="csX60" fmla="*/ 3317661 w 6372307"/>
              <a:gd name="csY60" fmla="*/ 286368 h 67440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6372307" h="6744098">
                <a:moveTo>
                  <a:pt x="3658116" y="5785322"/>
                </a:moveTo>
                <a:lnTo>
                  <a:pt x="3658116" y="6744098"/>
                </a:lnTo>
                <a:lnTo>
                  <a:pt x="1082670" y="6744098"/>
                </a:lnTo>
                <a:lnTo>
                  <a:pt x="1082670" y="4614809"/>
                </a:lnTo>
                <a:lnTo>
                  <a:pt x="1833095" y="4614809"/>
                </a:lnTo>
                <a:lnTo>
                  <a:pt x="1833095" y="5785322"/>
                </a:lnTo>
                <a:close/>
                <a:moveTo>
                  <a:pt x="4100011" y="4686668"/>
                </a:moveTo>
                <a:cubicBezTo>
                  <a:pt x="4131891" y="4719083"/>
                  <a:pt x="4151537" y="4763795"/>
                  <a:pt x="4151390" y="4813120"/>
                </a:cubicBezTo>
                <a:lnTo>
                  <a:pt x="4150417" y="5136586"/>
                </a:lnTo>
                <a:lnTo>
                  <a:pt x="3600467" y="5704661"/>
                </a:lnTo>
                <a:lnTo>
                  <a:pt x="2216429" y="5700743"/>
                </a:lnTo>
                <a:cubicBezTo>
                  <a:pt x="2118833" y="5700466"/>
                  <a:pt x="2039955" y="5620271"/>
                  <a:pt x="2040252" y="5521620"/>
                </a:cubicBezTo>
                <a:lnTo>
                  <a:pt x="2042399" y="4807149"/>
                </a:lnTo>
                <a:cubicBezTo>
                  <a:pt x="2042695" y="4708498"/>
                  <a:pt x="2122053" y="4628750"/>
                  <a:pt x="2219650" y="4629026"/>
                </a:cubicBezTo>
                <a:lnTo>
                  <a:pt x="3975213" y="4633997"/>
                </a:lnTo>
                <a:cubicBezTo>
                  <a:pt x="4024010" y="4634134"/>
                  <a:pt x="4068127" y="4654253"/>
                  <a:pt x="4100011" y="4686668"/>
                </a:cubicBezTo>
                <a:close/>
                <a:moveTo>
                  <a:pt x="3204924" y="3479095"/>
                </a:moveTo>
                <a:cubicBezTo>
                  <a:pt x="3236367" y="3509866"/>
                  <a:pt x="3256193" y="3552765"/>
                  <a:pt x="3256950" y="3600495"/>
                </a:cubicBezTo>
                <a:lnTo>
                  <a:pt x="3267925" y="4291885"/>
                </a:lnTo>
                <a:cubicBezTo>
                  <a:pt x="3269440" y="4387348"/>
                  <a:pt x="3194106" y="4465997"/>
                  <a:pt x="3099664" y="4467552"/>
                </a:cubicBezTo>
                <a:lnTo>
                  <a:pt x="1319346" y="4496850"/>
                </a:lnTo>
                <a:cubicBezTo>
                  <a:pt x="1224902" y="4498404"/>
                  <a:pt x="1147113" y="4422275"/>
                  <a:pt x="1145597" y="4326811"/>
                </a:cubicBezTo>
                <a:lnTo>
                  <a:pt x="1134622" y="3635423"/>
                </a:lnTo>
                <a:cubicBezTo>
                  <a:pt x="1133108" y="3539959"/>
                  <a:pt x="1208441" y="3461310"/>
                  <a:pt x="1302885" y="3459756"/>
                </a:cubicBezTo>
                <a:lnTo>
                  <a:pt x="3083202" y="3430458"/>
                </a:lnTo>
                <a:cubicBezTo>
                  <a:pt x="3130423" y="3429681"/>
                  <a:pt x="3173482" y="3448324"/>
                  <a:pt x="3204924" y="3479095"/>
                </a:cubicBezTo>
                <a:close/>
                <a:moveTo>
                  <a:pt x="1973987" y="1623956"/>
                </a:moveTo>
                <a:lnTo>
                  <a:pt x="1955654" y="3289650"/>
                </a:lnTo>
                <a:lnTo>
                  <a:pt x="994482" y="3279072"/>
                </a:lnTo>
                <a:lnTo>
                  <a:pt x="976557" y="4907581"/>
                </a:lnTo>
                <a:lnTo>
                  <a:pt x="0" y="4896833"/>
                </a:lnTo>
                <a:lnTo>
                  <a:pt x="36257" y="1602629"/>
                </a:lnTo>
                <a:close/>
                <a:moveTo>
                  <a:pt x="5815349" y="3416778"/>
                </a:moveTo>
                <a:lnTo>
                  <a:pt x="4782112" y="4484071"/>
                </a:lnTo>
                <a:lnTo>
                  <a:pt x="3614816" y="4446638"/>
                </a:lnTo>
                <a:cubicBezTo>
                  <a:pt x="3514708" y="4443429"/>
                  <a:pt x="3436147" y="4358794"/>
                  <a:pt x="3439345" y="4257603"/>
                </a:cubicBezTo>
                <a:lnTo>
                  <a:pt x="3462520" y="3524735"/>
                </a:lnTo>
                <a:cubicBezTo>
                  <a:pt x="3465719" y="3423546"/>
                  <a:pt x="3549467" y="3344116"/>
                  <a:pt x="3649576" y="3347327"/>
                </a:cubicBezTo>
                <a:close/>
                <a:moveTo>
                  <a:pt x="2853213" y="94170"/>
                </a:moveTo>
                <a:cubicBezTo>
                  <a:pt x="2895373" y="137657"/>
                  <a:pt x="2921116" y="197407"/>
                  <a:pt x="2920450" y="263109"/>
                </a:cubicBezTo>
                <a:lnTo>
                  <a:pt x="2910792" y="1214798"/>
                </a:lnTo>
                <a:cubicBezTo>
                  <a:pt x="2909458" y="1346203"/>
                  <a:pt x="2802992" y="1451661"/>
                  <a:pt x="2672993" y="1450345"/>
                </a:cubicBezTo>
                <a:lnTo>
                  <a:pt x="423687" y="1427560"/>
                </a:lnTo>
                <a:cubicBezTo>
                  <a:pt x="293688" y="1426244"/>
                  <a:pt x="189383" y="1318652"/>
                  <a:pt x="190717" y="1187247"/>
                </a:cubicBezTo>
                <a:lnTo>
                  <a:pt x="200374" y="235557"/>
                </a:lnTo>
                <a:cubicBezTo>
                  <a:pt x="201707" y="104153"/>
                  <a:pt x="308173" y="-1305"/>
                  <a:pt x="438173" y="12"/>
                </a:cubicBezTo>
                <a:lnTo>
                  <a:pt x="2687478" y="22795"/>
                </a:lnTo>
                <a:cubicBezTo>
                  <a:pt x="2752478" y="23454"/>
                  <a:pt x="2811054" y="50681"/>
                  <a:pt x="2853213" y="94170"/>
                </a:cubicBezTo>
                <a:close/>
                <a:moveTo>
                  <a:pt x="5154935" y="1637340"/>
                </a:moveTo>
                <a:lnTo>
                  <a:pt x="6372307" y="2841464"/>
                </a:lnTo>
                <a:lnTo>
                  <a:pt x="5988723" y="3237690"/>
                </a:lnTo>
                <a:lnTo>
                  <a:pt x="2364971" y="3231820"/>
                </a:lnTo>
                <a:cubicBezTo>
                  <a:pt x="2219358" y="3231584"/>
                  <a:pt x="2101532" y="3112073"/>
                  <a:pt x="2101800" y="2964887"/>
                </a:cubicBezTo>
                <a:lnTo>
                  <a:pt x="2103740" y="1898902"/>
                </a:lnTo>
                <a:cubicBezTo>
                  <a:pt x="2104007" y="1751717"/>
                  <a:pt x="2222267" y="1632589"/>
                  <a:pt x="2367880" y="1632825"/>
                </a:cubicBezTo>
                <a:close/>
                <a:moveTo>
                  <a:pt x="3775341" y="272762"/>
                </a:moveTo>
                <a:lnTo>
                  <a:pt x="4895626" y="1380855"/>
                </a:lnTo>
                <a:lnTo>
                  <a:pt x="3350576" y="1426785"/>
                </a:lnTo>
                <a:cubicBezTo>
                  <a:pt x="3246723" y="1429873"/>
                  <a:pt x="3160078" y="1347278"/>
                  <a:pt x="3157047" y="1242302"/>
                </a:cubicBezTo>
                <a:lnTo>
                  <a:pt x="3135105" y="482032"/>
                </a:lnTo>
                <a:cubicBezTo>
                  <a:pt x="3132075" y="377057"/>
                  <a:pt x="3213808" y="289456"/>
                  <a:pt x="3317661" y="286368"/>
                </a:cubicBezTo>
                <a:close/>
              </a:path>
            </a:pathLst>
          </a:custGeom>
          <a:blipFill>
            <a:blip r:embed="rId3"/>
            <a:stretch>
              <a:fillRect l="1000"/>
            </a:stretch>
          </a:blipFill>
          <a:effectLst>
            <a:outerShdw blurRad="76200" dir="14460000" sy="23000" kx="1200000" algn="br" rotWithShape="0">
              <a:schemeClr val="bg1">
                <a:lumMod val="95000"/>
                <a:alpha val="29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54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D3252-4926-A470-AE54-BDF83CDE1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32D42E27-4D26-9874-1924-423155D4D131}"/>
              </a:ext>
            </a:extLst>
          </p:cNvPr>
          <p:cNvSpPr txBox="1"/>
          <p:nvPr/>
        </p:nvSpPr>
        <p:spPr>
          <a:xfrm>
            <a:off x="2884019" y="124373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64CBAF5-E1FC-814C-51C3-F00AD3C78402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8D302A8-F7F1-47B1-0CF9-215E4E83056B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828261B2-CA88-A976-6BD4-B038A9607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A61168-3512-2A1E-6C0A-404D99E678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astelsSmoot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5520" r="54295" b="46206"/>
          <a:stretch>
            <a:fillRect/>
          </a:stretch>
        </p:blipFill>
        <p:spPr>
          <a:xfrm>
            <a:off x="1210734" y="1441830"/>
            <a:ext cx="2235200" cy="10465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2BB691-E523-222D-CE7C-C021A26ED861}"/>
              </a:ext>
            </a:extLst>
          </p:cNvPr>
          <p:cNvSpPr txBox="1"/>
          <p:nvPr/>
        </p:nvSpPr>
        <p:spPr>
          <a:xfrm>
            <a:off x="1466559" y="173427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ahnschrift" panose="020B0502040204020203" pitchFamily="34" charset="0"/>
              </a:rPr>
              <a:t>THE GOAL :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7AE695-D3B1-0759-1F02-B46514F9D8A8}"/>
              </a:ext>
            </a:extLst>
          </p:cNvPr>
          <p:cNvSpPr txBox="1"/>
          <p:nvPr/>
        </p:nvSpPr>
        <p:spPr>
          <a:xfrm>
            <a:off x="3701759" y="1550615"/>
            <a:ext cx="62145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Implementing a 5-stage pipeline which supports RV32IMA integrated with dedicated L1 instruction and data caches, complemented by dynamic branch prediction </a:t>
            </a:r>
            <a:endParaRPr lang="en-IN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1D86D7-581F-3D63-0D4A-1EE2468BE2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4042857"/>
              </p:ext>
            </p:extLst>
          </p:nvPr>
        </p:nvGraphicFramePr>
        <p:xfrm>
          <a:off x="1966093" y="2729108"/>
          <a:ext cx="7618174" cy="3491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17176134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E37BF-9C24-D575-F30E-6C657556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4312465F-9E21-EED2-6DD3-F86BFF1ABB49}"/>
              </a:ext>
            </a:extLst>
          </p:cNvPr>
          <p:cNvSpPr txBox="1"/>
          <p:nvPr/>
        </p:nvSpPr>
        <p:spPr>
          <a:xfrm>
            <a:off x="2675467" y="-44791"/>
            <a:ext cx="86295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System Architecture(Block Diagrams)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3BDB3D-8C39-4BEC-CCE0-CC90F3CF3CE1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5D045B0-B4B5-4F14-F00C-738304DFDBA4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2F5F486-F91D-16D9-9222-CE24905F4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AF4FE86-9737-9E88-E337-866640A5F4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525" y="1710694"/>
            <a:ext cx="9356000" cy="4616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03FCF8-3EE9-B651-816B-EC29544F8C85}"/>
              </a:ext>
            </a:extLst>
          </p:cNvPr>
          <p:cNvSpPr/>
          <p:nvPr/>
        </p:nvSpPr>
        <p:spPr>
          <a:xfrm>
            <a:off x="2751667" y="1803400"/>
            <a:ext cx="2167466" cy="1540933"/>
          </a:xfrm>
          <a:prstGeom prst="roundRect">
            <a:avLst/>
          </a:prstGeom>
          <a:noFill/>
          <a:ln w="63500">
            <a:solidFill>
              <a:schemeClr val="dk1">
                <a:shade val="15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62FA44-66C6-1F81-A2FA-CEC7B65EAA5D}"/>
              </a:ext>
            </a:extLst>
          </p:cNvPr>
          <p:cNvSpPr/>
          <p:nvPr/>
        </p:nvSpPr>
        <p:spPr>
          <a:xfrm>
            <a:off x="2217906" y="3471592"/>
            <a:ext cx="2363821" cy="1965970"/>
          </a:xfrm>
          <a:prstGeom prst="roundRect">
            <a:avLst/>
          </a:prstGeom>
          <a:noFill/>
          <a:ln w="63500">
            <a:solidFill>
              <a:srgbClr val="0614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ABE2EBE-2A9D-7E34-16D2-A99E4557D782}"/>
              </a:ext>
            </a:extLst>
          </p:cNvPr>
          <p:cNvSpPr/>
          <p:nvPr/>
        </p:nvSpPr>
        <p:spPr>
          <a:xfrm>
            <a:off x="4435813" y="3708400"/>
            <a:ext cx="5715720" cy="2322749"/>
          </a:xfrm>
          <a:prstGeom prst="roundRect">
            <a:avLst>
              <a:gd name="adj" fmla="val 28033"/>
            </a:avLst>
          </a:prstGeom>
          <a:noFill/>
          <a:ln w="635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510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47F9B-E3A9-EDEE-5C3D-9AA14987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22582A41-942B-EB37-997B-EDB09CEF963B}"/>
              </a:ext>
            </a:extLst>
          </p:cNvPr>
          <p:cNvSpPr txBox="1"/>
          <p:nvPr/>
        </p:nvSpPr>
        <p:spPr>
          <a:xfrm>
            <a:off x="2884019" y="124373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Timing Diagram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FEA9F23-293F-8323-948F-CFCFF19B2084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A4A75FE-C686-026A-86DE-5AE103AB4F14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CD256C97-AA6C-7A44-07EA-703B5E4823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44F1ECE-5128-EAB0-94B8-51C47DF2C0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203807"/>
              </p:ext>
            </p:extLst>
          </p:nvPr>
        </p:nvGraphicFramePr>
        <p:xfrm>
          <a:off x="9813473" y="1758958"/>
          <a:ext cx="2264228" cy="33400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78">
                  <a:extLst>
                    <a:ext uri="{9D8B030D-6E8A-4147-A177-3AD203B41FA5}">
                      <a16:colId xmlns:a16="http://schemas.microsoft.com/office/drawing/2014/main" val="2699912204"/>
                    </a:ext>
                  </a:extLst>
                </a:gridCol>
                <a:gridCol w="464065">
                  <a:extLst>
                    <a:ext uri="{9D8B030D-6E8A-4147-A177-3AD203B41FA5}">
                      <a16:colId xmlns:a16="http://schemas.microsoft.com/office/drawing/2014/main" val="2990898995"/>
                    </a:ext>
                  </a:extLst>
                </a:gridCol>
                <a:gridCol w="1263685">
                  <a:extLst>
                    <a:ext uri="{9D8B030D-6E8A-4147-A177-3AD203B41FA5}">
                      <a16:colId xmlns:a16="http://schemas.microsoft.com/office/drawing/2014/main" val="1764621357"/>
                    </a:ext>
                  </a:extLst>
                </a:gridCol>
              </a:tblGrid>
              <a:tr h="276536"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PC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 err="1"/>
                        <a:t>Icache</a:t>
                      </a:r>
                      <a:r>
                        <a:rPr lang="en-US" sz="800" b="0" i="0" dirty="0"/>
                        <a:t> Line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Instruction</a:t>
                      </a:r>
                      <a:endParaRPr lang="en-IN" sz="8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424370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0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ADDI  x1, x0, 10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23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0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800" b="0" i="0" dirty="0"/>
                        <a:t>0x04:   ADDI  x2, x1, 5 </a:t>
                      </a:r>
                      <a:endParaRPr lang="en-IN" sz="8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741398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0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   x3, x1, x2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5344840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0x0c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0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ADDI  x6, x0,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31868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1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LW    x4, 0x100(x0)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057185"/>
                  </a:ext>
                </a:extLst>
              </a:tr>
              <a:tr h="274648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1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   x5, x4, x1 </a:t>
                      </a:r>
                      <a:endParaRPr lang="en-IN" sz="800" b="0" i="0" baseline="0" dirty="0"/>
                    </a:p>
                    <a:p>
                      <a:endParaRPr lang="en-IN" sz="8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8498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1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ADDI  x6, x6,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493153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0x1c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1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BNE   x6, x0, -12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160999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2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ADD   x7, x3, x5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430077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2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NOP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205429"/>
                  </a:ext>
                </a:extLst>
              </a:tr>
              <a:tr h="272907"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0x28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800" b="0" i="0" dirty="0"/>
                        <a:t>2</a:t>
                      </a:r>
                      <a:endParaRPr lang="en-IN" sz="800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b="0" i="0" dirty="0"/>
                        <a:t>NOP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489943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1A859FA-6EB5-43AE-E39F-6AEBC35AB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00"/>
            <a:ext cx="9117240" cy="473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492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C67F8-9429-C6CE-3386-564F56D2D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71A3E118-5D4E-48D2-672C-CB38CA396DAE}"/>
              </a:ext>
            </a:extLst>
          </p:cNvPr>
          <p:cNvSpPr txBox="1"/>
          <p:nvPr/>
        </p:nvSpPr>
        <p:spPr>
          <a:xfrm>
            <a:off x="2884019" y="124373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Timing Diagram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C7765D5-03F0-184E-BB2F-52A3C19AD813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CBACB1D-EA86-CB72-405F-BC32502EDE50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D928518-C495-EFC7-6022-1E987AE59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29AE3C-4A25-19C9-94EF-54D44A790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49" y="1141639"/>
            <a:ext cx="10868897" cy="509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2050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A18A2-4591-505D-3E55-D7AA9CE1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439125A-536F-F73C-CDBE-FC9D5F158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08" y="3246342"/>
            <a:ext cx="2765943" cy="2058818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  <a:softEdge rad="112500"/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837138D-3E3B-E50D-AEBC-DC0EA531998A}"/>
              </a:ext>
            </a:extLst>
          </p:cNvPr>
          <p:cNvSpPr txBox="1"/>
          <p:nvPr/>
        </p:nvSpPr>
        <p:spPr>
          <a:xfrm>
            <a:off x="2273167" y="160471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Design + Verification Plan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FCACCD0-29B6-1680-5A4D-90743D39CA74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19FFD9B-214B-1F01-9B43-17647742C7E7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61066E1-0408-3987-1C11-CF2682A711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3D1F230-2D0E-0199-1076-F2BE41130F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975242"/>
              </p:ext>
            </p:extLst>
          </p:nvPr>
        </p:nvGraphicFramePr>
        <p:xfrm>
          <a:off x="1312091" y="379109"/>
          <a:ext cx="9382760" cy="597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A8352B9-BF51-919C-D1BB-B6E7BF7650A4}"/>
              </a:ext>
            </a:extLst>
          </p:cNvPr>
          <p:cNvSpPr txBox="1"/>
          <p:nvPr/>
        </p:nvSpPr>
        <p:spPr>
          <a:xfrm>
            <a:off x="501392" y="3945194"/>
            <a:ext cx="4357369" cy="1169551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20376000" lon="1938000" rev="20112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will have emphasis 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Multi-core resource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Coverage of RV32IMA ISA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Functioning of cache and BTB </a:t>
            </a: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39125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A8A1F6-6F07-B479-D1D9-B26D1282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C2643C9-C5F9-2500-4E31-B1D7423F1C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059775"/>
              </p:ext>
            </p:extLst>
          </p:nvPr>
        </p:nvGraphicFramePr>
        <p:xfrm>
          <a:off x="1312091" y="379109"/>
          <a:ext cx="9382760" cy="5977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245476E5-EEFC-526F-FCE4-D5124EFA0D9A}"/>
              </a:ext>
            </a:extLst>
          </p:cNvPr>
          <p:cNvSpPr txBox="1"/>
          <p:nvPr/>
        </p:nvSpPr>
        <p:spPr>
          <a:xfrm>
            <a:off x="1113156" y="154631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Timeline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FAB300-9442-D7E5-86D0-893DDA26AE67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1E51B9C-AF12-2539-80E5-48B052ADEA03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22E82E3-C401-FEFD-8DA7-AE231D07A5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sp>
        <p:nvSpPr>
          <p:cNvPr id="5" name="Graphic 3" descr="Checkmark with solid fill">
            <a:extLst>
              <a:ext uri="{FF2B5EF4-FFF2-40B4-BE49-F238E27FC236}">
                <a16:creationId xmlns:a16="http://schemas.microsoft.com/office/drawing/2014/main" id="{3D9DC603-2AA3-96D3-10AD-DCB7D44C1737}"/>
              </a:ext>
            </a:extLst>
          </p:cNvPr>
          <p:cNvSpPr/>
          <p:nvPr/>
        </p:nvSpPr>
        <p:spPr>
          <a:xfrm>
            <a:off x="5084445" y="1443749"/>
            <a:ext cx="2023110" cy="1778761"/>
          </a:xfrm>
          <a:custGeom>
            <a:avLst/>
            <a:gdLst>
              <a:gd name="csX0" fmla="*/ 1157597 w 1268825"/>
              <a:gd name="csY0" fmla="*/ 0 h 891198"/>
              <a:gd name="csX1" fmla="*/ 454525 w 1268825"/>
              <a:gd name="csY1" fmla="*/ 664623 h 891198"/>
              <a:gd name="csX2" fmla="*/ 116721 w 1268825"/>
              <a:gd name="csY2" fmla="*/ 318580 h 891198"/>
              <a:gd name="csX3" fmla="*/ 0 w 1268825"/>
              <a:gd name="csY3" fmla="*/ 429808 h 891198"/>
              <a:gd name="csX4" fmla="*/ 449032 w 1268825"/>
              <a:gd name="csY4" fmla="*/ 891199 h 891198"/>
              <a:gd name="csX5" fmla="*/ 567126 w 1268825"/>
              <a:gd name="csY5" fmla="*/ 781344 h 891198"/>
              <a:gd name="csX6" fmla="*/ 1268825 w 1268825"/>
              <a:gd name="csY6" fmla="*/ 115348 h 8911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68825" h="891198">
                <a:moveTo>
                  <a:pt x="1157597" y="0"/>
                </a:moveTo>
                <a:lnTo>
                  <a:pt x="454525" y="664623"/>
                </a:lnTo>
                <a:lnTo>
                  <a:pt x="116721" y="318580"/>
                </a:lnTo>
                <a:lnTo>
                  <a:pt x="0" y="429808"/>
                </a:lnTo>
                <a:lnTo>
                  <a:pt x="449032" y="891199"/>
                </a:lnTo>
                <a:lnTo>
                  <a:pt x="567126" y="781344"/>
                </a:lnTo>
                <a:lnTo>
                  <a:pt x="1268825" y="115348"/>
                </a:lnTo>
                <a:close/>
              </a:path>
            </a:pathLst>
          </a:custGeom>
          <a:solidFill>
            <a:schemeClr val="accent6">
              <a:alpha val="74000"/>
            </a:schemeClr>
          </a:solidFill>
          <a:ln w="13692" cap="flat">
            <a:solidFill>
              <a:schemeClr val="dk1">
                <a:shade val="15000"/>
              </a:schemeClr>
            </a:solidFill>
            <a:prstDash val="solid"/>
            <a:miter/>
          </a:ln>
          <a:scene3d>
            <a:camera prst="orthographicFront">
              <a:rot lat="0" lon="0" rev="0"/>
            </a:camera>
            <a:lightRig rig="threePt" dir="t"/>
          </a:scene3d>
        </p:spPr>
      </p:sp>
      <p:sp>
        <p:nvSpPr>
          <p:cNvPr id="6" name="Graphic 3" descr="Checkmark with solid fill">
            <a:extLst>
              <a:ext uri="{FF2B5EF4-FFF2-40B4-BE49-F238E27FC236}">
                <a16:creationId xmlns:a16="http://schemas.microsoft.com/office/drawing/2014/main" id="{34A5B99C-6F6C-2E9D-71A1-EC026CF78F53}"/>
              </a:ext>
            </a:extLst>
          </p:cNvPr>
          <p:cNvSpPr/>
          <p:nvPr/>
        </p:nvSpPr>
        <p:spPr>
          <a:xfrm>
            <a:off x="1537426" y="1213749"/>
            <a:ext cx="2023110" cy="1778761"/>
          </a:xfrm>
          <a:custGeom>
            <a:avLst/>
            <a:gdLst>
              <a:gd name="csX0" fmla="*/ 1157597 w 1268825"/>
              <a:gd name="csY0" fmla="*/ 0 h 891198"/>
              <a:gd name="csX1" fmla="*/ 454525 w 1268825"/>
              <a:gd name="csY1" fmla="*/ 664623 h 891198"/>
              <a:gd name="csX2" fmla="*/ 116721 w 1268825"/>
              <a:gd name="csY2" fmla="*/ 318580 h 891198"/>
              <a:gd name="csX3" fmla="*/ 0 w 1268825"/>
              <a:gd name="csY3" fmla="*/ 429808 h 891198"/>
              <a:gd name="csX4" fmla="*/ 449032 w 1268825"/>
              <a:gd name="csY4" fmla="*/ 891199 h 891198"/>
              <a:gd name="csX5" fmla="*/ 567126 w 1268825"/>
              <a:gd name="csY5" fmla="*/ 781344 h 891198"/>
              <a:gd name="csX6" fmla="*/ 1268825 w 1268825"/>
              <a:gd name="csY6" fmla="*/ 115348 h 8911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68825" h="891198">
                <a:moveTo>
                  <a:pt x="1157597" y="0"/>
                </a:moveTo>
                <a:lnTo>
                  <a:pt x="454525" y="664623"/>
                </a:lnTo>
                <a:lnTo>
                  <a:pt x="116721" y="318580"/>
                </a:lnTo>
                <a:lnTo>
                  <a:pt x="0" y="429808"/>
                </a:lnTo>
                <a:lnTo>
                  <a:pt x="449032" y="891199"/>
                </a:lnTo>
                <a:lnTo>
                  <a:pt x="567126" y="781344"/>
                </a:lnTo>
                <a:lnTo>
                  <a:pt x="1268825" y="115348"/>
                </a:lnTo>
                <a:close/>
              </a:path>
            </a:pathLst>
          </a:custGeom>
          <a:solidFill>
            <a:schemeClr val="accent6">
              <a:alpha val="74000"/>
            </a:schemeClr>
          </a:solidFill>
          <a:ln w="13692" cap="flat">
            <a:solidFill>
              <a:schemeClr val="dk1">
                <a:shade val="15000"/>
              </a:schemeClr>
            </a:solidFill>
            <a:prstDash val="solid"/>
            <a:miter/>
          </a:ln>
          <a:scene3d>
            <a:camera prst="orthographicFront">
              <a:rot lat="0" lon="0" rev="0"/>
            </a:camera>
            <a:lightRig rig="threePt" dir="t"/>
          </a:scene3d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D7C275-8CCD-C9B9-A3EA-62D4179FAE3B}"/>
              </a:ext>
            </a:extLst>
          </p:cNvPr>
          <p:cNvSpPr txBox="1"/>
          <p:nvPr/>
        </p:nvSpPr>
        <p:spPr>
          <a:xfrm>
            <a:off x="8705216" y="816351"/>
            <a:ext cx="1531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highlight>
                  <a:srgbClr val="FFFF00"/>
                </a:highlight>
                <a:latin typeface="Modern No. 20" panose="02070704070505020303" pitchFamily="18" charset="0"/>
              </a:rPr>
              <a:t>10 April</a:t>
            </a:r>
            <a:endParaRPr lang="en-IN" sz="2800" u="sng" dirty="0">
              <a:solidFill>
                <a:srgbClr val="FF0000"/>
              </a:solidFill>
              <a:highlight>
                <a:srgbClr val="FFFF00"/>
              </a:highlight>
              <a:latin typeface="Modern No. 20" panose="020707040705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436B9-A16E-EE7A-757A-E731593B6CEA}"/>
              </a:ext>
            </a:extLst>
          </p:cNvPr>
          <p:cNvSpPr txBox="1"/>
          <p:nvPr/>
        </p:nvSpPr>
        <p:spPr>
          <a:xfrm>
            <a:off x="10595610" y="4157006"/>
            <a:ext cx="1531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highlight>
                  <a:srgbClr val="FFFF00"/>
                </a:highlight>
                <a:latin typeface="Modern No. 20" panose="02070704070505020303" pitchFamily="18" charset="0"/>
              </a:rPr>
              <a:t>15 April</a:t>
            </a:r>
            <a:endParaRPr lang="en-IN" sz="2800" u="sng" dirty="0">
              <a:solidFill>
                <a:srgbClr val="FF0000"/>
              </a:solidFill>
              <a:highlight>
                <a:srgbClr val="FFFF00"/>
              </a:highlight>
              <a:latin typeface="Modern No. 20" panose="020707040705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295E8-9259-5E6E-0890-579139F75A39}"/>
              </a:ext>
            </a:extLst>
          </p:cNvPr>
          <p:cNvSpPr txBox="1"/>
          <p:nvPr/>
        </p:nvSpPr>
        <p:spPr>
          <a:xfrm>
            <a:off x="5194389" y="5367060"/>
            <a:ext cx="1531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FF0000"/>
                </a:solidFill>
                <a:highlight>
                  <a:srgbClr val="FFFF00"/>
                </a:highlight>
                <a:latin typeface="Modern No. 20" panose="02070704070505020303" pitchFamily="18" charset="0"/>
              </a:rPr>
              <a:t>19 April</a:t>
            </a:r>
            <a:endParaRPr lang="en-IN" sz="2800" u="sng" dirty="0">
              <a:solidFill>
                <a:srgbClr val="FF0000"/>
              </a:solidFill>
              <a:highlight>
                <a:srgbClr val="FFFF00"/>
              </a:highlight>
              <a:latin typeface="Modern No. 20" panose="02070704070505020303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657DB5-5FC0-9E98-452F-8E28590782D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108" y="3246342"/>
            <a:ext cx="2765943" cy="2058818"/>
          </a:xfrm>
          <a:prstGeom prst="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  <a:softEdge rad="112500"/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7D5F7A2-4929-5FCF-7984-BB992F220C51}"/>
              </a:ext>
            </a:extLst>
          </p:cNvPr>
          <p:cNvSpPr txBox="1"/>
          <p:nvPr/>
        </p:nvSpPr>
        <p:spPr>
          <a:xfrm>
            <a:off x="501392" y="3945194"/>
            <a:ext cx="4357369" cy="1169551"/>
          </a:xfrm>
          <a:prstGeom prst="rect">
            <a:avLst/>
          </a:prstGeom>
          <a:noFill/>
          <a:ln>
            <a:noFill/>
          </a:ln>
          <a:scene3d>
            <a:camera prst="orthographicFront">
              <a:rot lat="20376000" lon="1938000" rev="20112000"/>
            </a:camera>
            <a:lightRig rig="threePt" dir="t"/>
          </a:scene3d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will have emphasis on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Multi-core resource sharing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Coverage of RV32IMA ISA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Functioning of cache and BTB </a:t>
            </a:r>
          </a:p>
          <a:p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166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BCE657-0E96-B082-4D0D-BAD2F9305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51EBE5E-647B-B513-81F4-BD12556F442F}"/>
              </a:ext>
            </a:extLst>
          </p:cNvPr>
          <p:cNvSpPr txBox="1"/>
          <p:nvPr/>
        </p:nvSpPr>
        <p:spPr>
          <a:xfrm>
            <a:off x="1113156" y="258001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Team Responsibilities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333F129-51E6-72B5-0DBB-4B487F841908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C4DD7D6-CF89-7823-388A-12954B640391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B934D4A-8BA3-97E6-1548-D2728B3656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7C97A4F-4FC7-00D5-AFAF-C5627900C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21063"/>
              </p:ext>
            </p:extLst>
          </p:nvPr>
        </p:nvGraphicFramePr>
        <p:xfrm>
          <a:off x="2032000" y="1993195"/>
          <a:ext cx="8128000" cy="3205480"/>
        </p:xfrm>
        <a:graphic>
          <a:graphicData uri="http://schemas.openxmlformats.org/drawingml/2006/table">
            <a:tbl>
              <a:tblPr firstRow="1" bandRow="1">
                <a:effectLst>
                  <a:outerShdw blurRad="76200" dir="13500000" sy="23000" kx="1200000" algn="br" rotWithShape="0">
                    <a:prstClr val="black">
                      <a:alpha val="20000"/>
                    </a:prstClr>
                  </a:outerShdw>
                </a:effectLst>
                <a:tableStyleId>{93296810-A885-4BE3-A3E7-6D5BEEA58F35}</a:tableStyleId>
              </a:tblPr>
              <a:tblGrid>
                <a:gridCol w="3324860">
                  <a:extLst>
                    <a:ext uri="{9D8B030D-6E8A-4147-A177-3AD203B41FA5}">
                      <a16:colId xmlns:a16="http://schemas.microsoft.com/office/drawing/2014/main" val="435348007"/>
                    </a:ext>
                  </a:extLst>
                </a:gridCol>
                <a:gridCol w="4803140">
                  <a:extLst>
                    <a:ext uri="{9D8B030D-6E8A-4147-A177-3AD203B41FA5}">
                      <a16:colId xmlns:a16="http://schemas.microsoft.com/office/drawing/2014/main" val="32451988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Team Member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Responsibility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942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Shivansh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Base 5-stage pipeline modules, bus arbiter for multi-core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702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Sarvesh 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Branch prediction, Hazarding unit, top module (including dual core) 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828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Abhigyan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I-</a:t>
                      </a:r>
                      <a:r>
                        <a:rPr lang="en-US" b="0" cap="none" spc="0" dirty="0" err="1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cache,D</a:t>
                      </a:r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-cache, multiply-divide of execute, RV32A instruction support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8679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Manthan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cap="none" spc="0" dirty="0">
                          <a:ln w="0"/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Simulation artifacts including multithreaded C++ programs,  testbenches of checkpoints, UART demo</a:t>
                      </a:r>
                      <a:endParaRPr lang="en-IN" b="0" cap="none" spc="0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8676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804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25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rgbClr val="6E5913"/>
            </a:gs>
            <a:gs pos="0">
              <a:srgbClr val="061412"/>
            </a:gs>
            <a:gs pos="100000">
              <a:schemeClr val="accent4">
                <a:lumMod val="40000"/>
              </a:schemeClr>
            </a:gs>
            <a:gs pos="56000">
              <a:schemeClr val="tx2">
                <a:lumMod val="50000"/>
              </a:schemeClr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F79362-1A38-2C6C-931F-A62F4157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>
            <a:extLst>
              <a:ext uri="{FF2B5EF4-FFF2-40B4-BE49-F238E27FC236}">
                <a16:creationId xmlns:a16="http://schemas.microsoft.com/office/drawing/2014/main" id="{17AD524A-AAEC-2196-9C9E-1EC52CD0B1BF}"/>
              </a:ext>
            </a:extLst>
          </p:cNvPr>
          <p:cNvSpPr txBox="1"/>
          <p:nvPr/>
        </p:nvSpPr>
        <p:spPr>
          <a:xfrm>
            <a:off x="1243588" y="78653"/>
            <a:ext cx="97048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Bahnschrift" panose="020B0502040204020203" pitchFamily="34" charset="0"/>
                <a:cs typeface="Times New Roman" panose="02020603050405020304" pitchFamily="18" charset="0"/>
              </a:rPr>
              <a:t>Demo Plan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48BD2C-1F87-2A41-454A-E9FDDDCA2B23}"/>
              </a:ext>
            </a:extLst>
          </p:cNvPr>
          <p:cNvSpPr/>
          <p:nvPr/>
        </p:nvSpPr>
        <p:spPr>
          <a:xfrm>
            <a:off x="214009" y="0"/>
            <a:ext cx="73374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3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3">
                  <a:lumMod val="20000"/>
                  <a:lumOff val="8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A2D4B2-2B89-EEEA-818E-7EC972B0CE4E}"/>
              </a:ext>
            </a:extLst>
          </p:cNvPr>
          <p:cNvSpPr/>
          <p:nvPr/>
        </p:nvSpPr>
        <p:spPr>
          <a:xfrm>
            <a:off x="0" y="6513460"/>
            <a:ext cx="12192000" cy="70220"/>
          </a:xfrm>
          <a:prstGeom prst="rect">
            <a:avLst/>
          </a:prstGeom>
          <a:gradFill flip="none" rotWithShape="1">
            <a:gsLst>
              <a:gs pos="0">
                <a:schemeClr val="lt1">
                  <a:shade val="30000"/>
                  <a:satMod val="115000"/>
                </a:schemeClr>
              </a:gs>
              <a:gs pos="50000">
                <a:schemeClr val="lt1">
                  <a:shade val="67500"/>
                  <a:satMod val="115000"/>
                </a:schemeClr>
              </a:gs>
              <a:gs pos="100000">
                <a:schemeClr val="l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43CBBF2A-8543-6C0B-24B7-8C0DDC887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60" y="124373"/>
            <a:ext cx="950416" cy="9535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875802-A7A8-21AB-A35F-69004880CB04}"/>
              </a:ext>
            </a:extLst>
          </p:cNvPr>
          <p:cNvSpPr txBox="1"/>
          <p:nvPr/>
        </p:nvSpPr>
        <p:spPr>
          <a:xfrm>
            <a:off x="774414" y="2002837"/>
            <a:ext cx="4582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Show full functioning of multithreaded programs written in C++ with concurrent execution on our dual-core processor visible via a UART connection on our PC.</a:t>
            </a: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1D998C0-8CEB-FCEE-D43F-0651B4881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3886243"/>
              </p:ext>
            </p:extLst>
          </p:nvPr>
        </p:nvGraphicFramePr>
        <p:xfrm>
          <a:off x="3098514" y="625061"/>
          <a:ext cx="10773190" cy="5812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99638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616</Words>
  <Application>Microsoft Office PowerPoint</Application>
  <PresentationFormat>Widescreen</PresentationFormat>
  <Paragraphs>99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Bahnschrift</vt:lpstr>
      <vt:lpstr>Calibri</vt:lpstr>
      <vt:lpstr>Calibri Light</vt:lpstr>
      <vt:lpstr>Modern No. 20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 Joshi</dc:creator>
  <cp:lastModifiedBy>Sarvesh Joshi</cp:lastModifiedBy>
  <cp:revision>2</cp:revision>
  <dcterms:created xsi:type="dcterms:W3CDTF">2026-04-06T14:53:22Z</dcterms:created>
  <dcterms:modified xsi:type="dcterms:W3CDTF">2026-04-06T17:56:57Z</dcterms:modified>
</cp:coreProperties>
</file>